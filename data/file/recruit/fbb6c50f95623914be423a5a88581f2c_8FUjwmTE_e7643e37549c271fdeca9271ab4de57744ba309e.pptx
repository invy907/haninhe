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82" r:id="rId3"/>
    <p:sldId id="283" r:id="rId4"/>
    <p:sldId id="300" r:id="rId5"/>
    <p:sldId id="301" r:id="rId6"/>
    <p:sldId id="302" r:id="rId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1E1E1"/>
    <a:srgbClr val="C00000"/>
    <a:srgbClr val="2F5597"/>
    <a:srgbClr val="037AD9"/>
    <a:srgbClr val="F5F5F5"/>
    <a:srgbClr val="F2F2F2"/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986" autoAdjust="0"/>
    <p:restoredTop sz="94660"/>
  </p:normalViewPr>
  <p:slideViewPr>
    <p:cSldViewPr snapToGrid="0" showGuides="1">
      <p:cViewPr varScale="1">
        <p:scale>
          <a:sx n="108" d="100"/>
          <a:sy n="108" d="100"/>
        </p:scale>
        <p:origin x="97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7E37F7B-90C3-2CC6-D699-653EFEC5CD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64809CE-DC42-3E31-337E-57B8A23FB7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8518717-0144-F038-C18A-D95D104E81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01F443-8CBD-4007-BF5A-C8BA8837C67A}" type="datetimeFigureOut">
              <a:rPr lang="ko-KR" altLang="en-US" smtClean="0"/>
              <a:t>2023-07-27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AF022A0-898F-73D9-CA85-6C5894E1D5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263F578-160F-A48B-A794-A2F52D9FA8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9DBD35-9F3E-484D-B331-974182624F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047162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F91A58D-E2D5-EC60-536F-65129625AA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BA7E684-64CA-FBF5-EBE6-ACD64C5829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4766FF9-43E3-8601-B48D-A1DD3DF4A0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01F443-8CBD-4007-BF5A-C8BA8837C67A}" type="datetimeFigureOut">
              <a:rPr lang="ko-KR" altLang="en-US" smtClean="0"/>
              <a:t>2023-07-27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1406741-C09F-D496-3407-94DCD2BAF2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0E9BAF9-F885-BBD8-CF15-1B0B4DDADF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9DBD35-9F3E-484D-B331-974182624F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7066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8E7CCA-242A-7926-4018-58464DAAE1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550DBFA-768E-1BCD-B78F-B5ABF330D0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497A305-6663-5FEB-34EE-C4B9233B2E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01F443-8CBD-4007-BF5A-C8BA8837C67A}" type="datetimeFigureOut">
              <a:rPr lang="ko-KR" altLang="en-US" smtClean="0"/>
              <a:t>2023-07-27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0AA0F81-1414-ACC4-FC3F-4B52252000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76565D6-8C03-91D6-FE8C-1A0DF3BAF8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9DBD35-9F3E-484D-B331-974182624F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006933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C23973A-96D2-B88B-90E3-AE53150382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0130B2D-3C37-8FE0-E3BC-5C517AA8399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C1257DC-10A7-E366-FBCB-D6F056EB3A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5C8B611-3BB0-B952-977D-1D6C70BA0D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01F443-8CBD-4007-BF5A-C8BA8837C67A}" type="datetimeFigureOut">
              <a:rPr lang="ko-KR" altLang="en-US" smtClean="0"/>
              <a:t>2023-07-27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A33C62D-9959-BEC8-D167-A09EB6AF74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7BBB748-5669-F8AB-668C-E31643F403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9DBD35-9F3E-484D-B331-974182624F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87012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9051DA1-E177-7C50-EA5F-23A21A0E99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AE07071-18F2-56CE-F644-61CD0F9028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6175B69-9568-948D-B7C2-A48F19693C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D0C24CA-7D91-3A3D-2C92-EE8CCE5B80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C6F53290-8E55-B5B3-1287-EED8BFC3D27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80C3EA84-E9F4-D7A2-26C7-65F95A0DA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01F443-8CBD-4007-BF5A-C8BA8837C67A}" type="datetimeFigureOut">
              <a:rPr lang="ko-KR" altLang="en-US" smtClean="0"/>
              <a:t>2023-07-27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FC9CF1ED-D9AB-F689-D7E0-3866569F86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AEBDA846-FE97-0B8E-66F0-72139344C7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9DBD35-9F3E-484D-B331-974182624F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78924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C45AD70-7A1F-61FD-4F53-9F735AFF08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A9CE6BE-4F31-2C23-3E44-D0E21649BE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01F443-8CBD-4007-BF5A-C8BA8837C67A}" type="datetimeFigureOut">
              <a:rPr lang="ko-KR" altLang="en-US" smtClean="0"/>
              <a:t>2023-07-27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1788B7F1-CF82-774C-9928-F75270A39D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2C89931-7EDF-54A2-BEF7-325DF22856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9DBD35-9F3E-484D-B331-974182624F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046194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B2937534-EB17-014D-25EB-62FE6B2A20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01F443-8CBD-4007-BF5A-C8BA8837C67A}" type="datetimeFigureOut">
              <a:rPr lang="ko-KR" altLang="en-US" smtClean="0"/>
              <a:t>2023-07-27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7BE7525C-CE85-3149-3187-BA70648586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C421BAD-4F4F-E987-D1A4-7AE3D35FF2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9DBD35-9F3E-484D-B331-974182624F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262986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8B66CC5-8A4A-F097-3790-2032CEA79C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CDD41DC-0142-7830-EAE9-1F0F35215E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73F96F9-FD15-3A3B-1EE1-149BC3D4C8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F96D79A-1A9B-590A-F19A-6800DFAAC5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01F443-8CBD-4007-BF5A-C8BA8837C67A}" type="datetimeFigureOut">
              <a:rPr lang="ko-KR" altLang="en-US" smtClean="0"/>
              <a:t>2023-07-27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9FB82B1-F178-C2EE-7B16-0F38E3B6B1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D23941D-6FB8-F7D0-02BC-D48FABC70C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9DBD35-9F3E-484D-B331-974182624F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939461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9F7A286-BA08-8CC5-D223-911873A416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D9A10C60-F6AC-CF7D-B543-A73C26A7913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A7A60DE-62BF-2D78-72F7-833A138EFF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72C3705-DF75-871E-AFC7-EA68439A0E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01F443-8CBD-4007-BF5A-C8BA8837C67A}" type="datetimeFigureOut">
              <a:rPr lang="ko-KR" altLang="en-US" smtClean="0"/>
              <a:t>2023-07-27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0C6F50B-6BF4-0CD2-5118-930888C410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89CCE86-D267-88C8-AFAA-44337102BE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9DBD35-9F3E-484D-B331-974182624F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771194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01061AC-C8D3-7A70-FD53-FCA98CB59C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C674165-7293-CB1C-F90E-F2A41FD50F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093494B-224C-E32C-3B25-37E8F1C8A4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01F443-8CBD-4007-BF5A-C8BA8837C67A}" type="datetimeFigureOut">
              <a:rPr lang="ko-KR" altLang="en-US" smtClean="0"/>
              <a:t>2023-07-27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44EB2B3-A576-8BDF-60AC-3F23E5B67E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6EE352B-9EF4-6EFB-99FB-905F46E74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9DBD35-9F3E-484D-B331-974182624F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86016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F1BEAB40-DECE-0836-CE8A-9438E359157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33321FF-D804-1CC9-6AE9-04AFB117C7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283F56C-BBBE-3830-498E-AB69E0EF5B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01F443-8CBD-4007-BF5A-C8BA8837C67A}" type="datetimeFigureOut">
              <a:rPr lang="ko-KR" altLang="en-US" smtClean="0"/>
              <a:t>2023-07-27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A518636-4D05-F19C-5AC1-E7219710D1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15DD18C-7E9B-6CC8-2843-FBBDD4E6A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9DBD35-9F3E-484D-B331-974182624F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47962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B5197187-9538-CCC6-D3F8-39F77F47D5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692EB98-3EB2-03BB-5E8D-4BC5A6DF53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16BFAF2-BFD8-42BB-1FFD-0CB7DF7E70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01F443-8CBD-4007-BF5A-C8BA8837C67A}" type="datetimeFigureOut">
              <a:rPr lang="ko-KR" altLang="en-US" smtClean="0"/>
              <a:t>2023-07-27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AEC9DC4-2D36-109E-C695-CC3395909E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6BCA68A-D78A-8891-B0BA-40E7CD79E7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9DBD35-9F3E-484D-B331-974182624F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835415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5">
            <a:extLst>
              <a:ext uri="{FF2B5EF4-FFF2-40B4-BE49-F238E27FC236}">
                <a16:creationId xmlns:a16="http://schemas.microsoft.com/office/drawing/2014/main" id="{7E5A0868-7133-33EC-D07B-D0EF303D2B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2505" y="4653136"/>
            <a:ext cx="8664552" cy="4770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700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1pPr>
            <a:lvl2pPr marL="742950" indent="-285750" eaLnBrk="0" hangingPunct="0">
              <a:defRPr kumimoji="1" sz="700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2pPr>
            <a:lvl3pPr marL="1143000" indent="-228600" eaLnBrk="0" hangingPunct="0">
              <a:defRPr kumimoji="1" sz="700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3pPr>
            <a:lvl4pPr marL="1600200" indent="-228600" eaLnBrk="0" hangingPunct="0">
              <a:defRPr kumimoji="1" sz="700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4pPr>
            <a:lvl5pPr marL="2057400" indent="-228600" eaLnBrk="0" hangingPunct="0">
              <a:defRPr kumimoji="1" sz="700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700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700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700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700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9pPr>
          </a:lstStyle>
          <a:p>
            <a:pPr algn="ctr" eaLnBrk="1" hangingPunct="1"/>
            <a:r>
              <a:rPr lang="ko-KR" altLang="en-US" sz="2500" b="1">
                <a:solidFill>
                  <a:schemeClr val="tx1">
                    <a:lumMod val="50000"/>
                    <a:lumOff val="50000"/>
                  </a:schemeClr>
                </a:solidFill>
                <a:ea typeface="맑은 고딕" pitchFamily="50" charset="-127"/>
              </a:rPr>
              <a:t>드라이브의 윈도우 멀티유저 지원 시 제약사항에 대한 대처</a:t>
            </a:r>
            <a:endParaRPr lang="en-US" altLang="ko-KR" sz="2500" b="1" dirty="0">
              <a:solidFill>
                <a:schemeClr val="tx1">
                  <a:lumMod val="50000"/>
                  <a:lumOff val="50000"/>
                </a:schemeClr>
              </a:solidFill>
              <a:ea typeface="맑은 고딕" pitchFamily="50" charset="-127"/>
            </a:endParaRPr>
          </a:p>
        </p:txBody>
      </p:sp>
      <p:sp>
        <p:nvSpPr>
          <p:cNvPr id="3" name="Rectangle 20">
            <a:extLst>
              <a:ext uri="{FF2B5EF4-FFF2-40B4-BE49-F238E27FC236}">
                <a16:creationId xmlns:a16="http://schemas.microsoft.com/office/drawing/2014/main" id="{96F6AC80-6287-04D5-ED76-B7CB5C05D195}"/>
              </a:ext>
            </a:extLst>
          </p:cNvPr>
          <p:cNvSpPr>
            <a:spLocks noChangeArrowheads="1"/>
          </p:cNvSpPr>
          <p:nvPr/>
        </p:nvSpPr>
        <p:spPr bwMode="gray">
          <a:xfrm>
            <a:off x="2487659" y="5945709"/>
            <a:ext cx="632460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7889FB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1200">
                <a:solidFill>
                  <a:schemeClr val="tx2"/>
                </a:solidFill>
                <a:latin typeface="Arial" charset="0"/>
                <a:ea typeface="HY그래픽M" pitchFamily="18" charset="-127"/>
              </a:defRPr>
            </a:lvl1pPr>
            <a:lvl2pPr marL="742950" indent="-285750" eaLnBrk="0" hangingPunct="0">
              <a:defRPr kumimoji="1" sz="1200">
                <a:solidFill>
                  <a:schemeClr val="tx2"/>
                </a:solidFill>
                <a:latin typeface="Arial" charset="0"/>
                <a:ea typeface="HY그래픽M" pitchFamily="18" charset="-127"/>
              </a:defRPr>
            </a:lvl2pPr>
            <a:lvl3pPr marL="1143000" indent="-228600" eaLnBrk="0" hangingPunct="0">
              <a:defRPr kumimoji="1" sz="1200">
                <a:solidFill>
                  <a:schemeClr val="tx2"/>
                </a:solidFill>
                <a:latin typeface="Arial" charset="0"/>
                <a:ea typeface="HY그래픽M" pitchFamily="18" charset="-127"/>
              </a:defRPr>
            </a:lvl3pPr>
            <a:lvl4pPr marL="1600200" indent="-228600" eaLnBrk="0" hangingPunct="0">
              <a:defRPr kumimoji="1" sz="1200">
                <a:solidFill>
                  <a:schemeClr val="tx2"/>
                </a:solidFill>
                <a:latin typeface="Arial" charset="0"/>
                <a:ea typeface="HY그래픽M" pitchFamily="18" charset="-127"/>
              </a:defRPr>
            </a:lvl4pPr>
            <a:lvl5pPr marL="2057400" indent="-228600" eaLnBrk="0" hangingPunct="0">
              <a:defRPr kumimoji="1" sz="1200">
                <a:solidFill>
                  <a:schemeClr val="tx2"/>
                </a:solidFill>
                <a:latin typeface="Arial" charset="0"/>
                <a:ea typeface="HY그래픽M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2"/>
                </a:solidFill>
                <a:latin typeface="Arial" charset="0"/>
                <a:ea typeface="HY그래픽M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2"/>
                </a:solidFill>
                <a:latin typeface="Arial" charset="0"/>
                <a:ea typeface="HY그래픽M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2"/>
                </a:solidFill>
                <a:latin typeface="Arial" charset="0"/>
                <a:ea typeface="HY그래픽M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2"/>
                </a:solidFill>
                <a:latin typeface="Arial" charset="0"/>
                <a:ea typeface="HY그래픽M" pitchFamily="18" charset="-127"/>
              </a:defRPr>
            </a:lvl9pPr>
          </a:lstStyle>
          <a:p>
            <a:pPr algn="ctr" eaLnBrk="1" latinLnBrk="0" hangingPunct="1">
              <a:defRPr/>
            </a:pPr>
            <a:r>
              <a:rPr kumimoji="0" lang="en-US" altLang="ko-KR" sz="900" i="1">
                <a:solidFill>
                  <a:srgbClr val="80808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charset="0"/>
              </a:rPr>
              <a:t>® All Rights Reserved by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68FCB1C5-7B49-998E-B317-917B9E6467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9441" y="5987878"/>
            <a:ext cx="878855" cy="170749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4607F22D-554A-70E0-92C2-A3E2955AF4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7391" y="1624687"/>
            <a:ext cx="2797218" cy="1941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09445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B06ABCB-0074-3692-93F3-8E6BB77AC2CC}"/>
              </a:ext>
            </a:extLst>
          </p:cNvPr>
          <p:cNvSpPr txBox="1"/>
          <p:nvPr/>
        </p:nvSpPr>
        <p:spPr>
          <a:xfrm>
            <a:off x="344488" y="332656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800" b="1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문서이력</a:t>
            </a: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7FF7E454-3212-5EB6-49BA-26970B639B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3698849"/>
              </p:ext>
            </p:extLst>
          </p:nvPr>
        </p:nvGraphicFramePr>
        <p:xfrm>
          <a:off x="416495" y="908720"/>
          <a:ext cx="11294535" cy="4296477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2450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715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597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173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0264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err="1">
                          <a:latin typeface="맑은 고딕" pitchFamily="50" charset="-127"/>
                          <a:ea typeface="맑은 고딕" pitchFamily="50" charset="-127"/>
                        </a:rPr>
                        <a:t>버젼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>
                          <a:latin typeface="맑은 고딕" pitchFamily="50" charset="-127"/>
                          <a:ea typeface="맑은 고딕" pitchFamily="50" charset="-127"/>
                        </a:rPr>
                        <a:t>시작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>
                          <a:latin typeface="맑은 고딕" pitchFamily="50" charset="-127"/>
                          <a:ea typeface="맑은 고딕" pitchFamily="50" charset="-127"/>
                        </a:rPr>
                        <a:t>작업내용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>
                          <a:latin typeface="맑은 고딕" pitchFamily="50" charset="-127"/>
                          <a:ea typeface="맑은 고딕" pitchFamily="50" charset="-127"/>
                        </a:rPr>
                        <a:t>작성자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>
                          <a:latin typeface="맑은 고딕" pitchFamily="50" charset="-127"/>
                          <a:ea typeface="맑은 고딕" pitchFamily="50" charset="-127"/>
                        </a:rPr>
                        <a:t>완료일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64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맑은 고딕" pitchFamily="50" charset="-127"/>
                          <a:ea typeface="맑은 고딕" pitchFamily="50" charset="-127"/>
                        </a:rPr>
                        <a:t>1.0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latin typeface="맑은 고딕" pitchFamily="50" charset="-127"/>
                          <a:ea typeface="맑은 고딕" pitchFamily="50" charset="-127"/>
                        </a:rPr>
                        <a:t>2023-07-27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>
                          <a:latin typeface="맑은 고딕" pitchFamily="50" charset="-127"/>
                          <a:ea typeface="맑은 고딕" pitchFamily="50" charset="-127"/>
                        </a:rPr>
                        <a:t>최초 작업</a:t>
                      </a:r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맑은 고딕" pitchFamily="50" charset="-127"/>
                          <a:ea typeface="맑은 고딕" pitchFamily="50" charset="-127"/>
                        </a:rPr>
                        <a:t>안기섭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latin typeface="맑은 고딕" pitchFamily="50" charset="-127"/>
                          <a:ea typeface="+mn-ea"/>
                        </a:rPr>
                        <a:t>2023-07-27</a:t>
                      </a:r>
                      <a:endParaRPr lang="ko-KR" altLang="en-US" sz="1200" dirty="0">
                        <a:latin typeface="맑은 고딕" pitchFamily="50" charset="-127"/>
                        <a:ea typeface="+mn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645"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itchFamily="50" charset="-127"/>
                        <a:ea typeface="+mn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9470"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itchFamily="50" charset="-127"/>
                        <a:ea typeface="+mn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645"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itchFamily="50" charset="-127"/>
                        <a:ea typeface="+mn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26891"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itchFamily="50" charset="-127"/>
                        <a:ea typeface="+mn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2645"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itchFamily="50" charset="-127"/>
                        <a:ea typeface="+mn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626891"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dirty="0">
                        <a:latin typeface="맑은 고딕" pitchFamily="50" charset="-127"/>
                        <a:ea typeface="+mn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105653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4D241C6-D1B8-FF5A-E3EA-10531FD6FF97}"/>
              </a:ext>
            </a:extLst>
          </p:cNvPr>
          <p:cNvSpPr txBox="1"/>
          <p:nvPr/>
        </p:nvSpPr>
        <p:spPr>
          <a:xfrm>
            <a:off x="242983" y="130734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>
                <a:solidFill>
                  <a:srgbClr val="74747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개요</a:t>
            </a:r>
            <a:endParaRPr kumimoji="0" lang="ko-KR" altLang="ko-KR" sz="32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F06F4E0F-0D2A-CA8D-C99C-19FB32B54E43}"/>
              </a:ext>
            </a:extLst>
          </p:cNvPr>
          <p:cNvCxnSpPr/>
          <p:nvPr/>
        </p:nvCxnSpPr>
        <p:spPr>
          <a:xfrm>
            <a:off x="303946" y="452506"/>
            <a:ext cx="11564983" cy="0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01F932DA-E734-8F89-CDAF-2292CCF0172D}"/>
              </a:ext>
            </a:extLst>
          </p:cNvPr>
          <p:cNvSpPr txBox="1"/>
          <p:nvPr/>
        </p:nvSpPr>
        <p:spPr>
          <a:xfrm>
            <a:off x="710214" y="635050"/>
            <a:ext cx="106205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>
                <a:latin typeface="맑은 고딕" panose="020B0503020000020004" pitchFamily="50" charset="-127"/>
                <a:ea typeface="맑은 고딕" panose="020B0503020000020004" pitchFamily="50" charset="-127"/>
              </a:rPr>
              <a:t>현재 </a:t>
            </a:r>
            <a:r>
              <a:rPr lang="en-US" altLang="ko-KR" sz="1200">
                <a:latin typeface="맑은 고딕" panose="020B0503020000020004" pitchFamily="50" charset="-127"/>
                <a:ea typeface="맑은 고딕" panose="020B0503020000020004" pitchFamily="50" charset="-127"/>
              </a:rPr>
              <a:t>Windows</a:t>
            </a:r>
            <a:r>
              <a:rPr lang="ko-KR" altLang="en-US" sz="1200">
                <a:latin typeface="맑은 고딕" panose="020B0503020000020004" pitchFamily="50" charset="-127"/>
                <a:ea typeface="맑은 고딕" panose="020B0503020000020004" pitchFamily="50" charset="-127"/>
              </a:rPr>
              <a:t>용 </a:t>
            </a:r>
            <a:r>
              <a:rPr lang="en-US" altLang="ko-KR" sz="1200">
                <a:latin typeface="맑은 고딕" panose="020B0503020000020004" pitchFamily="50" charset="-127"/>
                <a:ea typeface="맑은 고딕" panose="020B0503020000020004" pitchFamily="50" charset="-127"/>
              </a:rPr>
              <a:t>DirectCloud-Drive</a:t>
            </a:r>
            <a:r>
              <a:rPr lang="ko-KR" altLang="en-US" sz="1200">
                <a:latin typeface="맑은 고딕" panose="020B0503020000020004" pitchFamily="50" charset="-127"/>
                <a:ea typeface="맑은 고딕" panose="020B0503020000020004" pitchFamily="50" charset="-127"/>
              </a:rPr>
              <a:t>는 윈도우 멀티유저의 동시 사용을 지원하기 위해</a:t>
            </a:r>
            <a:r>
              <a:rPr lang="en-US" altLang="ko-KR" sz="1200">
                <a:latin typeface="맑은 고딕" panose="020B0503020000020004" pitchFamily="50" charset="-127"/>
                <a:ea typeface="맑은 고딕" panose="020B0503020000020004" pitchFamily="50" charset="-127"/>
              </a:rPr>
              <a:t>, DirectCloud-Drive </a:t>
            </a:r>
            <a:r>
              <a:rPr lang="ko-KR" altLang="en-US" sz="1200">
                <a:latin typeface="맑은 고딕" panose="020B0503020000020004" pitchFamily="50" charset="-127"/>
                <a:ea typeface="맑은 고딕" panose="020B0503020000020004" pitchFamily="50" charset="-127"/>
              </a:rPr>
              <a:t>실행 시 각 윈도우 사용자의 사용자 권한으로 드라이브를 마운트하고 있는데</a:t>
            </a:r>
            <a:r>
              <a:rPr lang="en-US" altLang="ko-KR" sz="120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200">
                <a:latin typeface="맑은 고딕" panose="020B0503020000020004" pitchFamily="50" charset="-127"/>
                <a:ea typeface="맑은 고딕" panose="020B0503020000020004" pitchFamily="50" charset="-127"/>
              </a:rPr>
              <a:t>이에 따른 제약사항이 발견됨</a:t>
            </a:r>
            <a:endParaRPr lang="en-US" altLang="ko-KR" sz="120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77D1BF46-1846-A500-14D5-BAE05E1DB11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" r="-1286"/>
          <a:stretch/>
        </p:blipFill>
        <p:spPr>
          <a:xfrm>
            <a:off x="710214" y="1527833"/>
            <a:ext cx="5089245" cy="352656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C1BC145-6C1E-3AC3-7FD3-6DF42AD33749}"/>
              </a:ext>
            </a:extLst>
          </p:cNvPr>
          <p:cNvSpPr txBox="1"/>
          <p:nvPr/>
        </p:nvSpPr>
        <p:spPr>
          <a:xfrm>
            <a:off x="710214" y="5180986"/>
            <a:ext cx="5015883" cy="1384995"/>
          </a:xfrm>
          <a:prstGeom prst="rect">
            <a:avLst/>
          </a:prstGeom>
          <a:solidFill>
            <a:srgbClr val="C00000"/>
          </a:solidFill>
        </p:spPr>
        <p:txBody>
          <a:bodyPr wrap="square" rtlCol="0">
            <a:spAutoFit/>
          </a:bodyPr>
          <a:lstStyle/>
          <a:p>
            <a:r>
              <a:rPr lang="en-US" altLang="ko-KR" sz="1200">
                <a:solidFill>
                  <a:schemeClr val="bg1"/>
                </a:solidFill>
              </a:rPr>
              <a:t>&lt;</a:t>
            </a:r>
            <a:r>
              <a:rPr lang="ko-KR" altLang="en-US" sz="1200">
                <a:solidFill>
                  <a:schemeClr val="bg1"/>
                </a:solidFill>
              </a:rPr>
              <a:t>현상 재현</a:t>
            </a:r>
            <a:r>
              <a:rPr lang="en-US" altLang="ko-KR" sz="1200">
                <a:solidFill>
                  <a:schemeClr val="bg1"/>
                </a:solidFill>
              </a:rPr>
              <a:t>&gt;</a:t>
            </a:r>
            <a:br>
              <a:rPr lang="en-US" altLang="ko-KR" sz="1200">
                <a:solidFill>
                  <a:schemeClr val="bg1"/>
                </a:solidFill>
              </a:rPr>
            </a:br>
            <a:endParaRPr lang="en-US" altLang="ko-KR" sz="1200">
              <a:solidFill>
                <a:schemeClr val="bg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>
                <a:solidFill>
                  <a:schemeClr val="bg1"/>
                </a:solidFill>
              </a:rPr>
              <a:t>관리자 권한으로 특정 응용 프로그램 실행하여 파일 열기 </a:t>
            </a:r>
            <a:r>
              <a:rPr lang="en-US" altLang="ko-KR" sz="1200">
                <a:solidFill>
                  <a:schemeClr val="bg1"/>
                </a:solidFill>
              </a:rPr>
              <a:t>(</a:t>
            </a:r>
            <a:r>
              <a:rPr lang="ko-KR" altLang="en-US" sz="1200">
                <a:solidFill>
                  <a:schemeClr val="bg1"/>
                </a:solidFill>
              </a:rPr>
              <a:t>해당 프로그램은 메모장임</a:t>
            </a:r>
            <a:r>
              <a:rPr lang="en-US" altLang="ko-KR" sz="1200">
                <a:solidFill>
                  <a:schemeClr val="bg1"/>
                </a:solidFill>
              </a:rPr>
              <a:t>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altLang="ko-KR" sz="1200">
              <a:solidFill>
                <a:schemeClr val="bg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>
                <a:solidFill>
                  <a:schemeClr val="bg1"/>
                </a:solidFill>
              </a:rPr>
              <a:t>해당 응용 프로그램에서 다른 파일을 찾기 위해 “열기“ 기능 실행 시</a:t>
            </a:r>
            <a:r>
              <a:rPr lang="en-US" altLang="ko-KR" sz="1200">
                <a:solidFill>
                  <a:schemeClr val="bg1"/>
                </a:solidFill>
              </a:rPr>
              <a:t>, DirectCloud-Drive </a:t>
            </a:r>
            <a:r>
              <a:rPr lang="ko-KR" altLang="en-US" sz="1200">
                <a:solidFill>
                  <a:schemeClr val="bg1"/>
                </a:solidFill>
              </a:rPr>
              <a:t>경로가 보이지 않음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069B6E3-C497-B89E-7CD8-0E57589DDA1B}"/>
              </a:ext>
            </a:extLst>
          </p:cNvPr>
          <p:cNvSpPr txBox="1"/>
          <p:nvPr/>
        </p:nvSpPr>
        <p:spPr>
          <a:xfrm>
            <a:off x="6243052" y="1484336"/>
            <a:ext cx="5625878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en-US" altLang="ko-KR" sz="1200" b="1">
                <a:solidFill>
                  <a:srgbClr val="C00000"/>
                </a:solidFill>
              </a:rPr>
              <a:t>&lt;</a:t>
            </a:r>
            <a:r>
              <a:rPr lang="ko-KR" altLang="en-US" sz="1200" b="1">
                <a:solidFill>
                  <a:srgbClr val="C00000"/>
                </a:solidFill>
              </a:rPr>
              <a:t>제약사항</a:t>
            </a:r>
            <a:r>
              <a:rPr lang="en-US" altLang="ko-KR" sz="1200" b="1">
                <a:solidFill>
                  <a:srgbClr val="C00000"/>
                </a:solidFill>
              </a:rPr>
              <a:t>&gt;</a:t>
            </a:r>
          </a:p>
          <a:p>
            <a:pPr>
              <a:spcBef>
                <a:spcPts val="600"/>
              </a:spcBef>
            </a:pPr>
            <a:r>
              <a:rPr lang="ko-KR" altLang="en-US" sz="1200"/>
              <a:t>관리자 권한으로 실행된</a:t>
            </a:r>
            <a:r>
              <a:rPr lang="en-US" altLang="ko-KR" sz="1200"/>
              <a:t>, </a:t>
            </a:r>
            <a:r>
              <a:rPr lang="ko-KR" altLang="en-US" sz="1200"/>
              <a:t>또는 무조건 관리자 권한으로 실행하는 응용프로그램</a:t>
            </a:r>
            <a:endParaRPr lang="en-US" altLang="ko-KR" sz="1200"/>
          </a:p>
          <a:p>
            <a:pPr>
              <a:spcBef>
                <a:spcPts val="600"/>
              </a:spcBef>
            </a:pPr>
            <a:r>
              <a:rPr lang="ko-KR" altLang="en-US" sz="1200"/>
              <a:t>사용 시 </a:t>
            </a:r>
            <a:r>
              <a:rPr lang="en-US" altLang="ko-KR" sz="1200"/>
              <a:t>DirectCloud-Drive</a:t>
            </a:r>
            <a:r>
              <a:rPr lang="ko-KR" altLang="en-US" sz="1200"/>
              <a:t>의 정상적 이용 불가능</a:t>
            </a:r>
            <a:endParaRPr lang="en-US" altLang="ko-KR" sz="1200"/>
          </a:p>
          <a:p>
            <a:pPr>
              <a:spcBef>
                <a:spcPts val="600"/>
              </a:spcBef>
            </a:pPr>
            <a:endParaRPr lang="en-US" altLang="ko-KR" sz="1200"/>
          </a:p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ko-KR" sz="1200"/>
              <a:t>“</a:t>
            </a:r>
            <a:r>
              <a:rPr lang="ko-KR" altLang="en-US" sz="1200"/>
              <a:t>열기</a:t>
            </a:r>
            <a:r>
              <a:rPr lang="en-US" altLang="ko-KR" sz="1200"/>
              <a:t>” </a:t>
            </a:r>
            <a:r>
              <a:rPr lang="ko-KR" altLang="en-US" sz="1200"/>
              <a:t>동작 시</a:t>
            </a:r>
            <a:r>
              <a:rPr lang="en-US" altLang="ko-KR" sz="1200"/>
              <a:t>, </a:t>
            </a:r>
            <a:r>
              <a:rPr lang="ko-KR" altLang="en-US" sz="1200"/>
              <a:t>마운트된 </a:t>
            </a:r>
            <a:r>
              <a:rPr lang="en-US" altLang="ko-KR" sz="1200"/>
              <a:t>Drive </a:t>
            </a:r>
            <a:r>
              <a:rPr lang="ko-KR" altLang="en-US" sz="1200"/>
              <a:t>경로가 제공되지 않음 </a:t>
            </a:r>
            <a:r>
              <a:rPr lang="en-US" altLang="ko-KR" sz="1200"/>
              <a:t>(</a:t>
            </a:r>
            <a:r>
              <a:rPr lang="ko-KR" altLang="en-US" sz="1200"/>
              <a:t>좌측 예시 화면</a:t>
            </a:r>
            <a:r>
              <a:rPr lang="en-US" altLang="ko-KR" sz="1200"/>
              <a:t>)</a:t>
            </a:r>
          </a:p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ko-KR" altLang="en-US" sz="1200">
                <a:latin typeface="맑은 고딕" panose="020B0503020000020004" pitchFamily="50" charset="-127"/>
                <a:ea typeface="맑은 고딕" panose="020B0503020000020004" pitchFamily="50" charset="-127"/>
              </a:rPr>
              <a:t>탐색기에서 </a:t>
            </a:r>
            <a:r>
              <a:rPr lang="en-US" altLang="ko-KR" sz="1200">
                <a:latin typeface="맑은 고딕" panose="020B0503020000020004" pitchFamily="50" charset="-127"/>
                <a:ea typeface="맑은 고딕" panose="020B0503020000020004" pitchFamily="50" charset="-127"/>
              </a:rPr>
              <a:t>DirectCloud </a:t>
            </a:r>
            <a:r>
              <a:rPr lang="ko-KR" altLang="en-US" sz="1200">
                <a:latin typeface="맑은 고딕" panose="020B0503020000020004" pitchFamily="50" charset="-127"/>
                <a:ea typeface="맑은 고딕" panose="020B0503020000020004" pitchFamily="50" charset="-127"/>
              </a:rPr>
              <a:t>파일 실행을 위해 더블클릭을 했을 때</a:t>
            </a:r>
            <a:r>
              <a:rPr lang="en-US" altLang="ko-KR" sz="120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200">
                <a:latin typeface="맑은 고딕" panose="020B0503020000020004" pitchFamily="50" charset="-127"/>
                <a:ea typeface="맑은 고딕" panose="020B0503020000020004" pitchFamily="50" charset="-127"/>
              </a:rPr>
              <a:t>해당 파일을 실행하는 프로그램 자체가 무조건 </a:t>
            </a:r>
            <a:r>
              <a:rPr lang="en-US" altLang="ko-KR" sz="1200">
                <a:latin typeface="맑은 고딕" panose="020B0503020000020004" pitchFamily="50" charset="-127"/>
                <a:ea typeface="맑은 고딕" panose="020B0503020000020004" pitchFamily="50" charset="-127"/>
              </a:rPr>
              <a:t>“</a:t>
            </a:r>
            <a:r>
              <a:rPr lang="ko-KR" altLang="en-US" sz="1200">
                <a:latin typeface="맑은 고딕" panose="020B0503020000020004" pitchFamily="50" charset="-127"/>
                <a:ea typeface="맑은 고딕" panose="020B0503020000020004" pitchFamily="50" charset="-127"/>
              </a:rPr>
              <a:t>관리자 권한</a:t>
            </a:r>
            <a:r>
              <a:rPr lang="en-US" altLang="ko-KR" sz="1200">
                <a:latin typeface="맑은 고딕" panose="020B0503020000020004" pitchFamily="50" charset="-127"/>
                <a:ea typeface="맑은 고딕" panose="020B0503020000020004" pitchFamily="50" charset="-127"/>
              </a:rPr>
              <a:t>＂</a:t>
            </a:r>
            <a:r>
              <a:rPr lang="ko-KR" altLang="en-US" sz="1200">
                <a:latin typeface="맑은 고딕" panose="020B0503020000020004" pitchFamily="50" charset="-127"/>
                <a:ea typeface="맑은 고딕" panose="020B0503020000020004" pitchFamily="50" charset="-127"/>
              </a:rPr>
              <a:t>으로 실행되는 프로그램인 경우 </a:t>
            </a:r>
            <a:r>
              <a:rPr lang="en-US" altLang="ko-KR" sz="1200">
                <a:latin typeface="맑은 고딕" panose="020B0503020000020004" pitchFamily="50" charset="-127"/>
                <a:ea typeface="맑은 고딕" panose="020B0503020000020004" pitchFamily="50" charset="-127"/>
              </a:rPr>
              <a:t>“</a:t>
            </a:r>
            <a:r>
              <a:rPr lang="ko-KR" altLang="en-US" sz="1200">
                <a:latin typeface="맑은 고딕" panose="020B0503020000020004" pitchFamily="50" charset="-127"/>
                <a:ea typeface="맑은 고딕" panose="020B0503020000020004" pitchFamily="50" charset="-127"/>
              </a:rPr>
              <a:t>파일을 찾을 수 없다</a:t>
            </a:r>
            <a:r>
              <a:rPr lang="en-US" altLang="ko-KR" sz="1200">
                <a:latin typeface="맑은 고딕" panose="020B0503020000020004" pitchFamily="50" charset="-127"/>
                <a:ea typeface="맑은 고딕" panose="020B0503020000020004" pitchFamily="50" charset="-127"/>
              </a:rPr>
              <a:t>＂</a:t>
            </a:r>
            <a:r>
              <a:rPr lang="ko-KR" altLang="en-US" sz="1200">
                <a:latin typeface="맑은 고딕" panose="020B0503020000020004" pitchFamily="50" charset="-127"/>
                <a:ea typeface="맑은 고딕" panose="020B0503020000020004" pitchFamily="50" charset="-127"/>
              </a:rPr>
              <a:t>고 나타나는 현상</a:t>
            </a:r>
            <a:endParaRPr lang="en-US" altLang="ko-KR" sz="120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US" altLang="ko-KR" sz="120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spcBef>
                <a:spcPts val="600"/>
              </a:spcBef>
            </a:pPr>
            <a:r>
              <a:rPr lang="en-US" altLang="ko-KR" sz="1200" b="1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&lt;</a:t>
            </a:r>
            <a:r>
              <a:rPr lang="ko-KR" altLang="en-US" sz="1200" b="1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원인</a:t>
            </a:r>
            <a:r>
              <a:rPr lang="en-US" altLang="ko-KR" sz="1200" b="1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</a:t>
            </a:r>
          </a:p>
          <a:p>
            <a:pPr>
              <a:spcBef>
                <a:spcPts val="600"/>
              </a:spcBef>
            </a:pPr>
            <a:r>
              <a:rPr lang="en-US" altLang="ko-KR" sz="1200"/>
              <a:t>Drive</a:t>
            </a:r>
            <a:r>
              <a:rPr lang="ko-KR" altLang="en-US" sz="1200"/>
              <a:t>문자를 사용자 권한으로 마운트 했는데</a:t>
            </a:r>
            <a:r>
              <a:rPr lang="en-US" altLang="ko-KR" sz="1200"/>
              <a:t>, </a:t>
            </a:r>
            <a:r>
              <a:rPr lang="ko-KR" altLang="en-US" sz="1200"/>
              <a:t>프로그램 실행은 관리자 권한으로 실행함으로 인해 사용자 권한으로 마운트한 </a:t>
            </a:r>
            <a:r>
              <a:rPr lang="en-US" altLang="ko-KR" sz="1200"/>
              <a:t>Drive </a:t>
            </a:r>
            <a:r>
              <a:rPr lang="ko-KR" altLang="en-US" sz="1200"/>
              <a:t>구조는 반영할 수 없음에 발생하는 현상</a:t>
            </a:r>
            <a:endParaRPr lang="en-US" altLang="ko-KR" sz="1200"/>
          </a:p>
          <a:p>
            <a:pPr>
              <a:spcBef>
                <a:spcPts val="600"/>
              </a:spcBef>
            </a:pPr>
            <a:endParaRPr lang="en-US" altLang="ko-KR" sz="1200"/>
          </a:p>
          <a:p>
            <a:pPr>
              <a:spcBef>
                <a:spcPts val="600"/>
              </a:spcBef>
            </a:pPr>
            <a:r>
              <a:rPr lang="en-US" altLang="ko-KR" sz="1200" b="1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&lt;</a:t>
            </a:r>
            <a:r>
              <a:rPr lang="ko-KR" altLang="en-US" sz="1200" b="1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해결방안</a:t>
            </a:r>
            <a:r>
              <a:rPr lang="en-US" altLang="ko-KR" sz="1200" b="1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</a:t>
            </a:r>
          </a:p>
          <a:p>
            <a:pPr>
              <a:spcBef>
                <a:spcPts val="600"/>
              </a:spcBef>
            </a:pPr>
            <a:r>
              <a:rPr lang="en-US" altLang="ko-KR" sz="1200" b="1" u="sng"/>
              <a:t>Windows</a:t>
            </a:r>
            <a:r>
              <a:rPr lang="ko-KR" altLang="en-US" sz="1200" b="1" u="sng"/>
              <a:t> 멀티유저 사용 지원이 기본조건이면 해결방안은 없음 </a:t>
            </a:r>
            <a:br>
              <a:rPr lang="en-US" altLang="ko-KR" sz="1200"/>
            </a:br>
            <a:r>
              <a:rPr lang="en-US" altLang="ko-KR" sz="1200"/>
              <a:t>(</a:t>
            </a:r>
            <a:r>
              <a:rPr lang="ko-KR" altLang="en-US" sz="1200"/>
              <a:t>반드시 사용자 권한으로 드라이브를 마운트해야 각 사용자별 드라이브 마운트가 가능함</a:t>
            </a:r>
            <a:r>
              <a:rPr lang="en-US" altLang="ko-KR" sz="1200"/>
              <a:t>).</a:t>
            </a:r>
          </a:p>
          <a:p>
            <a:pPr>
              <a:spcBef>
                <a:spcPts val="600"/>
              </a:spcBef>
            </a:pPr>
            <a:r>
              <a:rPr lang="ko-KR" altLang="en-US" sz="1200"/>
              <a:t>다만</a:t>
            </a:r>
            <a:r>
              <a:rPr lang="en-US" altLang="ko-KR" sz="1200"/>
              <a:t>, </a:t>
            </a:r>
            <a:r>
              <a:rPr lang="ko-KR" altLang="en-US" sz="1200"/>
              <a:t>관리자 권한으로 사용되는 응용프로그램에서 정상적인 이용을 지원하려면 과거 버전처럼 드라이브 문자 마운트를 관리자 권한으로 지정해서 실행해야함</a:t>
            </a:r>
            <a:r>
              <a:rPr lang="en-US" altLang="ko-KR" sz="1200"/>
              <a:t>.</a:t>
            </a:r>
            <a:endParaRPr lang="ko-KR" altLang="en-US" sz="1200"/>
          </a:p>
        </p:txBody>
      </p:sp>
    </p:spTree>
    <p:extLst>
      <p:ext uri="{BB962C8B-B14F-4D97-AF65-F5344CB8AC3E}">
        <p14:creationId xmlns:p14="http://schemas.microsoft.com/office/powerpoint/2010/main" val="10074918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7965DE1-57E5-8DD7-3F03-A0119C12DC9A}"/>
              </a:ext>
            </a:extLst>
          </p:cNvPr>
          <p:cNvSpPr txBox="1"/>
          <p:nvPr/>
        </p:nvSpPr>
        <p:spPr>
          <a:xfrm>
            <a:off x="242983" y="130734"/>
            <a:ext cx="11336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>
                <a:solidFill>
                  <a:srgbClr val="74747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해결방안 </a:t>
            </a:r>
            <a:r>
              <a:rPr lang="en-US" altLang="ko-KR" sz="1400" b="1">
                <a:solidFill>
                  <a:srgbClr val="74747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1)</a:t>
            </a:r>
            <a:endParaRPr kumimoji="0" lang="ko-KR" altLang="ko-KR" sz="32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EDE6DEE0-76E4-6CD7-5E97-0307B482D1F8}"/>
              </a:ext>
            </a:extLst>
          </p:cNvPr>
          <p:cNvCxnSpPr/>
          <p:nvPr/>
        </p:nvCxnSpPr>
        <p:spPr>
          <a:xfrm>
            <a:off x="303946" y="452506"/>
            <a:ext cx="11564983" cy="0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DB939EB8-3B54-F28B-B83B-31A6AECAFD02}"/>
              </a:ext>
            </a:extLst>
          </p:cNvPr>
          <p:cNvSpPr txBox="1"/>
          <p:nvPr/>
        </p:nvSpPr>
        <p:spPr>
          <a:xfrm>
            <a:off x="710214" y="635050"/>
            <a:ext cx="106205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>
                <a:latin typeface="맑은 고딕" panose="020B0503020000020004" pitchFamily="50" charset="-127"/>
                <a:ea typeface="맑은 고딕" panose="020B0503020000020004" pitchFamily="50" charset="-127"/>
              </a:rPr>
              <a:t>관리자 권한으로 실행된 응용 프로그램 미지원을 사양으로 확정하여 공지</a:t>
            </a:r>
            <a:endParaRPr lang="en-US" altLang="ko-KR" sz="120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C994887-786E-FB60-DF74-AC0C404A90CE}"/>
              </a:ext>
            </a:extLst>
          </p:cNvPr>
          <p:cNvSpPr txBox="1"/>
          <p:nvPr/>
        </p:nvSpPr>
        <p:spPr>
          <a:xfrm>
            <a:off x="1955025" y="2314723"/>
            <a:ext cx="867154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en-US" altLang="ko-KR" sz="1600"/>
              <a:t>Windows</a:t>
            </a:r>
            <a:r>
              <a:rPr lang="ko-KR" altLang="en-US" sz="1600"/>
              <a:t>에서는 관리자 권한으로 응용프로그램 실행하는 것을 권장하지 않으나</a:t>
            </a:r>
            <a:r>
              <a:rPr lang="en-US" altLang="ko-KR" sz="1600"/>
              <a:t>, </a:t>
            </a:r>
            <a:r>
              <a:rPr lang="ko-KR" altLang="en-US" sz="1600"/>
              <a:t>일부 과거 응용프로그램 및 사내 자체개발 프로그램 등에서 일부 사용중이라 이 부분에 대해 그냥 사양으로 결정하여 발표</a:t>
            </a:r>
            <a:r>
              <a:rPr lang="en-US" altLang="ko-KR" sz="1600"/>
              <a:t>.</a:t>
            </a:r>
            <a:br>
              <a:rPr lang="en-US" altLang="ko-KR" sz="1600"/>
            </a:br>
            <a:br>
              <a:rPr lang="en-US" altLang="ko-KR" sz="1600"/>
            </a:br>
            <a:r>
              <a:rPr lang="en-US" altLang="ko-KR" sz="1600">
                <a:sym typeface="Wingdings" panose="05000000000000000000" pitchFamily="2" charset="2"/>
              </a:rPr>
              <a:t> </a:t>
            </a:r>
            <a:r>
              <a:rPr lang="ko-KR" altLang="en-US" sz="1600" u="sng"/>
              <a:t>관리자 권한으로 실행되는 프로그램에서는 </a:t>
            </a:r>
            <a:r>
              <a:rPr lang="en-US" altLang="ko-KR" sz="1600" u="sng"/>
              <a:t>DirectCloud-Drive </a:t>
            </a:r>
            <a:r>
              <a:rPr lang="ko-KR" altLang="en-US" sz="1600" u="sng"/>
              <a:t>파일을 불러오지 못함</a:t>
            </a:r>
          </a:p>
        </p:txBody>
      </p:sp>
    </p:spTree>
    <p:extLst>
      <p:ext uri="{BB962C8B-B14F-4D97-AF65-F5344CB8AC3E}">
        <p14:creationId xmlns:p14="http://schemas.microsoft.com/office/powerpoint/2010/main" val="24807402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E50D442-55C1-9F49-BB63-ED3A4440236D}"/>
              </a:ext>
            </a:extLst>
          </p:cNvPr>
          <p:cNvSpPr txBox="1"/>
          <p:nvPr/>
        </p:nvSpPr>
        <p:spPr>
          <a:xfrm>
            <a:off x="242983" y="130734"/>
            <a:ext cx="17347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>
                <a:solidFill>
                  <a:srgbClr val="74747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해결방안 </a:t>
            </a:r>
            <a:r>
              <a:rPr lang="en-US" altLang="ko-KR" sz="1400" b="1">
                <a:solidFill>
                  <a:srgbClr val="74747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2) </a:t>
            </a:r>
            <a:r>
              <a:rPr lang="ko-KR" altLang="en-US" sz="1400" b="1">
                <a:solidFill>
                  <a:srgbClr val="74747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옵션화</a:t>
            </a:r>
            <a:endParaRPr kumimoji="0" lang="ko-KR" altLang="ko-KR" sz="32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CECF6A4B-5031-F3AF-E85C-E9C97A8C0C88}"/>
              </a:ext>
            </a:extLst>
          </p:cNvPr>
          <p:cNvCxnSpPr/>
          <p:nvPr/>
        </p:nvCxnSpPr>
        <p:spPr>
          <a:xfrm>
            <a:off x="303946" y="452506"/>
            <a:ext cx="11564983" cy="0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2122C362-99CE-4620-379A-339AAAD3E349}"/>
              </a:ext>
            </a:extLst>
          </p:cNvPr>
          <p:cNvSpPr txBox="1"/>
          <p:nvPr/>
        </p:nvSpPr>
        <p:spPr>
          <a:xfrm>
            <a:off x="710214" y="635050"/>
            <a:ext cx="1062056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>
                <a:latin typeface="맑은 고딕" panose="020B0503020000020004" pitchFamily="50" charset="-127"/>
                <a:ea typeface="맑은 고딕" panose="020B0503020000020004" pitchFamily="50" charset="-127"/>
              </a:rPr>
              <a:t>해결방안 </a:t>
            </a:r>
            <a:r>
              <a:rPr lang="en-US" altLang="ko-KR" sz="1200"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 sz="1200">
                <a:latin typeface="맑은 고딕" panose="020B0503020000020004" pitchFamily="50" charset="-127"/>
                <a:ea typeface="맑은 고딕" panose="020B0503020000020004" pitchFamily="50" charset="-127"/>
              </a:rPr>
              <a:t>는 제약사항을 해결하기 위해 기존 방식의 드라이브 마운트</a:t>
            </a:r>
            <a:r>
              <a:rPr lang="en-US" altLang="ko-KR" sz="120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200">
                <a:latin typeface="맑은 고딕" panose="020B0503020000020004" pitchFamily="50" charset="-127"/>
                <a:ea typeface="맑은 고딕" panose="020B0503020000020004" pitchFamily="50" charset="-127"/>
              </a:rPr>
              <a:t>관리자 권한으로 마운트</a:t>
            </a:r>
            <a:r>
              <a:rPr lang="en-US" altLang="ko-KR" sz="1200">
                <a:latin typeface="맑은 고딕" panose="020B0503020000020004" pitchFamily="50" charset="-127"/>
                <a:ea typeface="맑은 고딕" panose="020B0503020000020004" pitchFamily="50" charset="-127"/>
              </a:rPr>
              <a:t>) </a:t>
            </a:r>
            <a:r>
              <a:rPr lang="ko-KR" altLang="en-US" sz="1200">
                <a:latin typeface="맑은 고딕" panose="020B0503020000020004" pitchFamily="50" charset="-127"/>
                <a:ea typeface="맑은 고딕" panose="020B0503020000020004" pitchFamily="50" charset="-127"/>
              </a:rPr>
              <a:t>하는 옵션을 제공하는 방법으로 뉘앙스의 차이에 따라</a:t>
            </a:r>
            <a:r>
              <a:rPr lang="en-US" altLang="ko-KR" sz="120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200">
                <a:latin typeface="맑은 고딕" panose="020B0503020000020004" pitchFamily="50" charset="-127"/>
                <a:ea typeface="맑은 고딕" panose="020B0503020000020004" pitchFamily="50" charset="-127"/>
              </a:rPr>
              <a:t>세부적으로 </a:t>
            </a:r>
            <a:r>
              <a:rPr lang="en-US" altLang="ko-KR" sz="1200">
                <a:latin typeface="맑은 고딕" panose="020B0503020000020004" pitchFamily="50" charset="-127"/>
                <a:ea typeface="맑은 고딕" panose="020B0503020000020004" pitchFamily="50" charset="-127"/>
              </a:rPr>
              <a:t>2-1</a:t>
            </a:r>
            <a:r>
              <a:rPr lang="ko-KR" altLang="en-US" sz="1200">
                <a:latin typeface="맑은 고딕" panose="020B0503020000020004" pitchFamily="50" charset="-127"/>
                <a:ea typeface="맑은 고딕" panose="020B0503020000020004" pitchFamily="50" charset="-127"/>
              </a:rPr>
              <a:t>과 </a:t>
            </a:r>
            <a:r>
              <a:rPr lang="en-US" altLang="ko-KR" sz="1200">
                <a:latin typeface="맑은 고딕" panose="020B0503020000020004" pitchFamily="50" charset="-127"/>
                <a:ea typeface="맑은 고딕" panose="020B0503020000020004" pitchFamily="50" charset="-127"/>
              </a:rPr>
              <a:t>2-2</a:t>
            </a:r>
            <a:r>
              <a:rPr lang="ko-KR" altLang="en-US" sz="1200">
                <a:latin typeface="맑은 고딕" panose="020B0503020000020004" pitchFamily="50" charset="-127"/>
                <a:ea typeface="맑은 고딕" panose="020B0503020000020004" pitchFamily="50" charset="-127"/>
              </a:rPr>
              <a:t>안이 있음</a:t>
            </a:r>
            <a:endParaRPr lang="en-US" altLang="ko-KR" sz="120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 sz="120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200">
                <a:latin typeface="맑은 고딕" panose="020B0503020000020004" pitchFamily="50" charset="-127"/>
                <a:ea typeface="맑은 고딕" panose="020B0503020000020004" pitchFamily="50" charset="-127"/>
              </a:rPr>
              <a:t>본 옵션은 클라이언트별로 설정하는 게 아니라</a:t>
            </a:r>
            <a:r>
              <a:rPr lang="en-US" altLang="ko-KR" sz="120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200">
                <a:latin typeface="맑은 고딕" panose="020B0503020000020004" pitchFamily="50" charset="-127"/>
                <a:ea typeface="맑은 고딕" panose="020B0503020000020004" pitchFamily="50" charset="-127"/>
              </a:rPr>
              <a:t>회사 정책으로 내려주도록 해야함 </a:t>
            </a:r>
            <a:r>
              <a:rPr lang="en-US" altLang="ko-KR" sz="1200">
                <a:latin typeface="맑은 고딕" panose="020B0503020000020004" pitchFamily="50" charset="-127"/>
                <a:ea typeface="맑은 고딕" panose="020B0503020000020004" pitchFamily="50" charset="-127"/>
              </a:rPr>
              <a:t>– 1</a:t>
            </a:r>
            <a:r>
              <a:rPr lang="ko-KR" altLang="en-US" sz="1200">
                <a:latin typeface="맑은 고딕" panose="020B0503020000020004" pitchFamily="50" charset="-127"/>
                <a:ea typeface="맑은 고딕" panose="020B0503020000020004" pitchFamily="50" charset="-127"/>
              </a:rPr>
              <a:t>개 컴퓨터에서 클라이언트별로 다른 옵션으로 실행 시에는 문제 발생할 수 있음</a:t>
            </a:r>
            <a:r>
              <a:rPr lang="en-US" altLang="ko-KR" sz="120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779C5E1-1AAC-780C-5AC2-41A82BAEB14E}"/>
              </a:ext>
            </a:extLst>
          </p:cNvPr>
          <p:cNvSpPr txBox="1"/>
          <p:nvPr/>
        </p:nvSpPr>
        <p:spPr>
          <a:xfrm>
            <a:off x="710214" y="1664859"/>
            <a:ext cx="106205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>
                <a:latin typeface="맑은 고딕" panose="020B0503020000020004" pitchFamily="50" charset="-127"/>
                <a:ea typeface="맑은 고딕" panose="020B0503020000020004" pitchFamily="50" charset="-127"/>
              </a:rPr>
              <a:t>2-1) Windows </a:t>
            </a:r>
            <a:r>
              <a:rPr lang="ko-KR" altLang="en-US" sz="1200" b="1">
                <a:latin typeface="맑은 고딕" panose="020B0503020000020004" pitchFamily="50" charset="-127"/>
                <a:ea typeface="맑은 고딕" panose="020B0503020000020004" pitchFamily="50" charset="-127"/>
              </a:rPr>
              <a:t>멀티유저 지원을 옵션으로 선택하도록 함</a:t>
            </a:r>
            <a:endParaRPr lang="en-US" altLang="ko-KR" sz="1200" b="1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E7F29DF3-994D-F4F6-265C-4BFFB12EB45B}"/>
              </a:ext>
            </a:extLst>
          </p:cNvPr>
          <p:cNvSpPr/>
          <p:nvPr/>
        </p:nvSpPr>
        <p:spPr>
          <a:xfrm>
            <a:off x="1322772" y="2681385"/>
            <a:ext cx="9264555" cy="279808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BD7444EB-9C11-1803-8EF6-50DC403D370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84" r="1300" b="82701"/>
          <a:stretch/>
        </p:blipFill>
        <p:spPr>
          <a:xfrm>
            <a:off x="1244546" y="1946593"/>
            <a:ext cx="9495183" cy="734792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54F9EDB8-C022-5CC1-51FC-BC5B56C8ACF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84" t="15894" r="1300" b="4552"/>
          <a:stretch/>
        </p:blipFill>
        <p:spPr>
          <a:xfrm>
            <a:off x="1244547" y="3069254"/>
            <a:ext cx="9231104" cy="328516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DD9585A-480F-DC45-8097-8FA415BA95E3}"/>
              </a:ext>
            </a:extLst>
          </p:cNvPr>
          <p:cNvSpPr txBox="1"/>
          <p:nvPr/>
        </p:nvSpPr>
        <p:spPr>
          <a:xfrm>
            <a:off x="1530712" y="2710589"/>
            <a:ext cx="133722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/>
              <a:t>Windows </a:t>
            </a:r>
            <a:r>
              <a:rPr lang="ko-KR" altLang="en-US" sz="800"/>
              <a:t>멀티 유저 지원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B2081F38-0591-58F7-6340-68D03987DD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7897" y="2701632"/>
            <a:ext cx="436866" cy="224034"/>
          </a:xfrm>
          <a:prstGeom prst="rect">
            <a:avLst/>
          </a:prstGeom>
        </p:spPr>
      </p:pic>
      <p:sp>
        <p:nvSpPr>
          <p:cNvPr id="12" name="타원 11">
            <a:extLst>
              <a:ext uri="{FF2B5EF4-FFF2-40B4-BE49-F238E27FC236}">
                <a16:creationId xmlns:a16="http://schemas.microsoft.com/office/drawing/2014/main" id="{CEEDC0D5-C42C-B0A4-D029-DB571667B228}"/>
              </a:ext>
            </a:extLst>
          </p:cNvPr>
          <p:cNvSpPr/>
          <p:nvPr/>
        </p:nvSpPr>
        <p:spPr>
          <a:xfrm>
            <a:off x="2803462" y="2751179"/>
            <a:ext cx="128952" cy="128952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b="1"/>
              <a:t>!</a:t>
            </a:r>
            <a:endParaRPr lang="ko-KR" altLang="en-US" sz="600" b="1"/>
          </a:p>
        </p:txBody>
      </p:sp>
      <p:sp>
        <p:nvSpPr>
          <p:cNvPr id="13" name="말풍선: 모서리가 둥근 사각형 12">
            <a:extLst>
              <a:ext uri="{FF2B5EF4-FFF2-40B4-BE49-F238E27FC236}">
                <a16:creationId xmlns:a16="http://schemas.microsoft.com/office/drawing/2014/main" id="{F1F09345-42C5-1F13-CA5C-86E701574E00}"/>
              </a:ext>
            </a:extLst>
          </p:cNvPr>
          <p:cNvSpPr/>
          <p:nvPr/>
        </p:nvSpPr>
        <p:spPr>
          <a:xfrm>
            <a:off x="2489214" y="3120689"/>
            <a:ext cx="4614863" cy="1220492"/>
          </a:xfrm>
          <a:prstGeom prst="wedgeRoundRectCallout">
            <a:avLst>
              <a:gd name="adj1" fmla="val -39352"/>
              <a:gd name="adj2" fmla="val -61334"/>
              <a:gd name="adj3" fmla="val 16667"/>
            </a:avLst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>
                <a:solidFill>
                  <a:schemeClr val="tx1">
                    <a:lumMod val="75000"/>
                    <a:lumOff val="25000"/>
                  </a:schemeClr>
                </a:solidFill>
              </a:rPr>
              <a:t>1</a:t>
            </a:r>
            <a:r>
              <a:rPr lang="ko-KR" altLang="en-US" sz="800">
                <a:solidFill>
                  <a:schemeClr val="tx1">
                    <a:lumMod val="75000"/>
                    <a:lumOff val="25000"/>
                  </a:schemeClr>
                </a:solidFill>
              </a:rPr>
              <a:t>개의 컴퓨터에 복수의</a:t>
            </a:r>
            <a:r>
              <a:rPr lang="en-US" altLang="ko-KR" sz="800">
                <a:solidFill>
                  <a:schemeClr val="tx1">
                    <a:lumMod val="75000"/>
                    <a:lumOff val="25000"/>
                  </a:schemeClr>
                </a:solidFill>
              </a:rPr>
              <a:t> windows </a:t>
            </a:r>
            <a:r>
              <a:rPr lang="ko-KR" altLang="en-US" sz="800">
                <a:solidFill>
                  <a:schemeClr val="tx1">
                    <a:lumMod val="75000"/>
                    <a:lumOff val="25000"/>
                  </a:schemeClr>
                </a:solidFill>
              </a:rPr>
              <a:t>계정을 등록하여 동시에 여러 명의 사용자가 </a:t>
            </a:r>
            <a:r>
              <a:rPr lang="en-US" altLang="ko-KR" sz="800">
                <a:solidFill>
                  <a:schemeClr val="tx1">
                    <a:lumMod val="75000"/>
                    <a:lumOff val="25000"/>
                  </a:schemeClr>
                </a:solidFill>
              </a:rPr>
              <a:t>DirectCloud-Drive</a:t>
            </a:r>
            <a:r>
              <a:rPr lang="ko-KR" altLang="en-US" sz="800">
                <a:solidFill>
                  <a:schemeClr val="tx1">
                    <a:lumMod val="75000"/>
                    <a:lumOff val="25000"/>
                  </a:schemeClr>
                </a:solidFill>
              </a:rPr>
              <a:t>를 사용하는 경우</a:t>
            </a:r>
            <a:r>
              <a:rPr lang="en-US" altLang="ko-KR" sz="800">
                <a:solidFill>
                  <a:schemeClr val="tx1">
                    <a:lumMod val="75000"/>
                    <a:lumOff val="25000"/>
                  </a:schemeClr>
                </a:solidFill>
              </a:rPr>
              <a:t>, </a:t>
            </a:r>
            <a:r>
              <a:rPr lang="ko-KR" altLang="en-US" sz="800">
                <a:solidFill>
                  <a:schemeClr val="tx1">
                    <a:lumMod val="75000"/>
                    <a:lumOff val="25000"/>
                  </a:schemeClr>
                </a:solidFill>
              </a:rPr>
              <a:t>각 사용자가 </a:t>
            </a:r>
            <a:r>
              <a:rPr lang="en-US" altLang="ko-KR" sz="800">
                <a:solidFill>
                  <a:schemeClr val="tx1">
                    <a:lumMod val="75000"/>
                    <a:lumOff val="25000"/>
                  </a:schemeClr>
                </a:solidFill>
              </a:rPr>
              <a:t>DirectCloud-Drive</a:t>
            </a:r>
            <a:r>
              <a:rPr lang="ko-KR" altLang="en-US" sz="800">
                <a:solidFill>
                  <a:schemeClr val="tx1">
                    <a:lumMod val="75000"/>
                    <a:lumOff val="25000"/>
                  </a:schemeClr>
                </a:solidFill>
              </a:rPr>
              <a:t>에 독립적으로 접속하여 사용할 수 있도록 지원합니다</a:t>
            </a:r>
            <a:r>
              <a:rPr lang="en-US" altLang="ko-KR" sz="800">
                <a:solidFill>
                  <a:schemeClr val="tx1">
                    <a:lumMod val="75000"/>
                    <a:lumOff val="25000"/>
                  </a:schemeClr>
                </a:solidFill>
              </a:rPr>
              <a:t>. </a:t>
            </a:r>
          </a:p>
          <a:p>
            <a:endParaRPr lang="en-US" altLang="ko-KR" sz="80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ko-KR" altLang="en-US" sz="800">
                <a:solidFill>
                  <a:schemeClr val="tx1">
                    <a:lumMod val="75000"/>
                    <a:lumOff val="25000"/>
                  </a:schemeClr>
                </a:solidFill>
              </a:rPr>
              <a:t>해당 옵션 활성화 시</a:t>
            </a:r>
            <a:r>
              <a:rPr lang="en-US" altLang="ko-KR" sz="800">
                <a:solidFill>
                  <a:schemeClr val="tx1">
                    <a:lumMod val="75000"/>
                    <a:lumOff val="25000"/>
                  </a:schemeClr>
                </a:solidFill>
              </a:rPr>
              <a:t>, </a:t>
            </a:r>
            <a:r>
              <a:rPr lang="ko-KR" altLang="en-US" sz="800">
                <a:solidFill>
                  <a:schemeClr val="tx1">
                    <a:lumMod val="75000"/>
                    <a:lumOff val="25000"/>
                  </a:schemeClr>
                </a:solidFill>
              </a:rPr>
              <a:t>관리자 권한으로 실행되는 응용 프로그램을 사용하면 일부 보고된 오류사항이 있습니다만</a:t>
            </a:r>
            <a:r>
              <a:rPr lang="en-US" altLang="ko-KR" sz="800">
                <a:solidFill>
                  <a:schemeClr val="tx1">
                    <a:lumMod val="75000"/>
                    <a:lumOff val="25000"/>
                  </a:schemeClr>
                </a:solidFill>
              </a:rPr>
              <a:t>, </a:t>
            </a:r>
            <a:r>
              <a:rPr lang="ko-KR" altLang="en-US" sz="800">
                <a:solidFill>
                  <a:schemeClr val="tx1">
                    <a:lumMod val="75000"/>
                    <a:lumOff val="25000"/>
                  </a:schemeClr>
                </a:solidFill>
              </a:rPr>
              <a:t>일반적인 응용 프로그램은 관리자 권한으로 실행되지 않습니다</a:t>
            </a:r>
            <a:r>
              <a:rPr lang="en-US" altLang="ko-KR" sz="800">
                <a:solidFill>
                  <a:schemeClr val="tx1">
                    <a:lumMod val="75000"/>
                    <a:lumOff val="25000"/>
                  </a:schemeClr>
                </a:solidFill>
              </a:rPr>
              <a:t>. </a:t>
            </a:r>
            <a:br>
              <a:rPr lang="en-US" altLang="ko-KR" sz="80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br>
              <a:rPr lang="en-US" altLang="ko-KR" sz="80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ko-KR" altLang="en-US" sz="800">
                <a:solidFill>
                  <a:schemeClr val="tx1">
                    <a:lumMod val="75000"/>
                    <a:lumOff val="25000"/>
                  </a:schemeClr>
                </a:solidFill>
              </a:rPr>
              <a:t>이에 대한 자세한 정보는 매뉴얼 및 안내페이지</a:t>
            </a:r>
            <a:r>
              <a:rPr lang="en-US" altLang="ko-KR" sz="800">
                <a:solidFill>
                  <a:schemeClr val="tx1">
                    <a:lumMod val="75000"/>
                    <a:lumOff val="25000"/>
                  </a:schemeClr>
                </a:solidFill>
              </a:rPr>
              <a:t>(</a:t>
            </a:r>
            <a:r>
              <a:rPr lang="ko-KR" altLang="en-US" sz="800">
                <a:solidFill>
                  <a:schemeClr val="tx1">
                    <a:lumMod val="75000"/>
                    <a:lumOff val="25000"/>
                  </a:schemeClr>
                </a:solidFill>
              </a:rPr>
              <a:t>일본에서 제공</a:t>
            </a:r>
            <a:r>
              <a:rPr lang="en-US" altLang="ko-KR" sz="800">
                <a:solidFill>
                  <a:schemeClr val="tx1">
                    <a:lumMod val="75000"/>
                    <a:lumOff val="25000"/>
                  </a:schemeClr>
                </a:solidFill>
              </a:rPr>
              <a:t>)</a:t>
            </a:r>
            <a:r>
              <a:rPr lang="ko-KR" altLang="en-US" sz="800">
                <a:solidFill>
                  <a:schemeClr val="tx1">
                    <a:lumMod val="75000"/>
                    <a:lumOff val="25000"/>
                  </a:schemeClr>
                </a:solidFill>
              </a:rPr>
              <a:t>를 참고해주세요 </a:t>
            </a:r>
            <a:r>
              <a:rPr lang="en-US" altLang="ko-KR" sz="80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81E983F-8689-AF06-F1F3-EC0D23297887}"/>
              </a:ext>
            </a:extLst>
          </p:cNvPr>
          <p:cNvSpPr txBox="1"/>
          <p:nvPr/>
        </p:nvSpPr>
        <p:spPr>
          <a:xfrm>
            <a:off x="4622887" y="2358559"/>
            <a:ext cx="5553426" cy="861774"/>
          </a:xfrm>
          <a:prstGeom prst="rect">
            <a:avLst/>
          </a:prstGeom>
          <a:solidFill>
            <a:srgbClr val="C00000"/>
          </a:solidFill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>
                <a:solidFill>
                  <a:schemeClr val="bg1"/>
                </a:solidFill>
              </a:rPr>
              <a:t>기본적으로 기존 사용성</a:t>
            </a:r>
            <a:r>
              <a:rPr lang="en-US" altLang="ko-KR" sz="1000">
                <a:solidFill>
                  <a:schemeClr val="bg1"/>
                </a:solidFill>
              </a:rPr>
              <a:t>(</a:t>
            </a:r>
            <a:r>
              <a:rPr lang="ko-KR" altLang="en-US" sz="1000">
                <a:solidFill>
                  <a:schemeClr val="bg1"/>
                </a:solidFill>
              </a:rPr>
              <a:t>관리자 권한으로 드라이브 마운트</a:t>
            </a:r>
            <a:r>
              <a:rPr lang="en-US" altLang="ko-KR" sz="1000">
                <a:solidFill>
                  <a:schemeClr val="bg1"/>
                </a:solidFill>
              </a:rPr>
              <a:t>)</a:t>
            </a:r>
            <a:r>
              <a:rPr lang="ko-KR" altLang="en-US" sz="1000">
                <a:solidFill>
                  <a:schemeClr val="bg1"/>
                </a:solidFill>
              </a:rPr>
              <a:t>을 유지하는 것을 기본값으로 함 </a:t>
            </a:r>
            <a:r>
              <a:rPr lang="en-US" altLang="ko-KR" sz="1000">
                <a:solidFill>
                  <a:schemeClr val="bg1"/>
                </a:solidFill>
              </a:rPr>
              <a:t>(</a:t>
            </a:r>
            <a:r>
              <a:rPr lang="ko-KR" altLang="en-US" sz="1000">
                <a:solidFill>
                  <a:schemeClr val="bg1"/>
                </a:solidFill>
              </a:rPr>
              <a:t>해당 기능 비활성화</a:t>
            </a:r>
            <a:r>
              <a:rPr lang="en-US" altLang="ko-KR" sz="1000">
                <a:solidFill>
                  <a:schemeClr val="bg1"/>
                </a:solidFill>
              </a:rPr>
              <a:t>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00">
                <a:solidFill>
                  <a:schemeClr val="bg1"/>
                </a:solidFill>
              </a:rPr>
              <a:t>Windows</a:t>
            </a:r>
            <a:r>
              <a:rPr lang="ko-KR" altLang="en-US" sz="1000">
                <a:solidFill>
                  <a:schemeClr val="bg1"/>
                </a:solidFill>
              </a:rPr>
              <a:t>에서 멀티 유저 사용하려는 기업은 해당 옵션을 활성화하여 사용하도록 함 </a:t>
            </a:r>
            <a:r>
              <a:rPr lang="en-US" altLang="ko-KR" sz="1000">
                <a:solidFill>
                  <a:schemeClr val="bg1"/>
                </a:solidFill>
              </a:rPr>
              <a:t>(</a:t>
            </a:r>
            <a:r>
              <a:rPr lang="ko-KR" altLang="en-US" sz="1000">
                <a:solidFill>
                  <a:schemeClr val="bg1"/>
                </a:solidFill>
              </a:rPr>
              <a:t>클라이언트 로그인 시 해당 정책 적용 받도록 함</a:t>
            </a:r>
            <a:r>
              <a:rPr lang="en-US" altLang="ko-KR" sz="1000">
                <a:solidFill>
                  <a:schemeClr val="bg1"/>
                </a:solidFill>
              </a:rPr>
              <a:t>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>
                <a:solidFill>
                  <a:schemeClr val="bg1"/>
                </a:solidFill>
              </a:rPr>
              <a:t>해당 옵션 설정 시의 제약사항에 대한 설명을 제공하도록 함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823E940-D903-F255-FCB7-88DF3B8F6EB9}"/>
              </a:ext>
            </a:extLst>
          </p:cNvPr>
          <p:cNvSpPr txBox="1"/>
          <p:nvPr/>
        </p:nvSpPr>
        <p:spPr>
          <a:xfrm>
            <a:off x="6726895" y="4071949"/>
            <a:ext cx="5553426" cy="246221"/>
          </a:xfrm>
          <a:prstGeom prst="rect">
            <a:avLst/>
          </a:prstGeom>
          <a:solidFill>
            <a:srgbClr val="C00000"/>
          </a:solidFill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>
                <a:solidFill>
                  <a:schemeClr val="bg1"/>
                </a:solidFill>
              </a:rPr>
              <a:t>안내페이지</a:t>
            </a:r>
            <a:r>
              <a:rPr lang="en-US" altLang="ko-KR" sz="1000">
                <a:solidFill>
                  <a:schemeClr val="bg1"/>
                </a:solidFill>
              </a:rPr>
              <a:t>(FAQ) </a:t>
            </a:r>
            <a:r>
              <a:rPr lang="ko-KR" altLang="en-US" sz="1000">
                <a:solidFill>
                  <a:schemeClr val="bg1"/>
                </a:solidFill>
              </a:rPr>
              <a:t>제공하여 </a:t>
            </a:r>
            <a:r>
              <a:rPr lang="en-US" altLang="ko-KR" sz="1000">
                <a:solidFill>
                  <a:schemeClr val="bg1"/>
                </a:solidFill>
              </a:rPr>
              <a:t>URL</a:t>
            </a:r>
            <a:r>
              <a:rPr lang="ko-KR" altLang="en-US" sz="1000">
                <a:solidFill>
                  <a:schemeClr val="bg1"/>
                </a:solidFill>
              </a:rPr>
              <a:t>로 자세한 설명 제공했으면 함</a:t>
            </a:r>
          </a:p>
        </p:txBody>
      </p:sp>
    </p:spTree>
    <p:extLst>
      <p:ext uri="{BB962C8B-B14F-4D97-AF65-F5344CB8AC3E}">
        <p14:creationId xmlns:p14="http://schemas.microsoft.com/office/powerpoint/2010/main" val="41192834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53E5149-5881-F540-DD14-2ABD7C65237B}"/>
              </a:ext>
            </a:extLst>
          </p:cNvPr>
          <p:cNvSpPr txBox="1"/>
          <p:nvPr/>
        </p:nvSpPr>
        <p:spPr>
          <a:xfrm>
            <a:off x="242983" y="130734"/>
            <a:ext cx="17347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>
                <a:solidFill>
                  <a:srgbClr val="74747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해결방안 </a:t>
            </a:r>
            <a:r>
              <a:rPr lang="en-US" altLang="ko-KR" sz="1400" b="1">
                <a:solidFill>
                  <a:srgbClr val="74747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2) </a:t>
            </a:r>
            <a:r>
              <a:rPr lang="ko-KR" altLang="en-US" sz="1400" b="1">
                <a:solidFill>
                  <a:srgbClr val="74747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옵션화</a:t>
            </a:r>
            <a:endParaRPr kumimoji="0" lang="ko-KR" altLang="ko-KR" sz="32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1F788C89-6240-06EB-F141-0E54EAB671BE}"/>
              </a:ext>
            </a:extLst>
          </p:cNvPr>
          <p:cNvCxnSpPr/>
          <p:nvPr/>
        </p:nvCxnSpPr>
        <p:spPr>
          <a:xfrm>
            <a:off x="303946" y="452506"/>
            <a:ext cx="11564983" cy="0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1A2F43C5-9758-BB77-9D38-D113600307FB}"/>
              </a:ext>
            </a:extLst>
          </p:cNvPr>
          <p:cNvSpPr txBox="1"/>
          <p:nvPr/>
        </p:nvSpPr>
        <p:spPr>
          <a:xfrm>
            <a:off x="710214" y="750459"/>
            <a:ext cx="106205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>
                <a:latin typeface="맑은 고딕" panose="020B0503020000020004" pitchFamily="50" charset="-127"/>
                <a:ea typeface="맑은 고딕" panose="020B0503020000020004" pitchFamily="50" charset="-127"/>
              </a:rPr>
              <a:t>2-2) </a:t>
            </a:r>
            <a:r>
              <a:rPr lang="ko-KR" altLang="en-US" sz="1200" b="1">
                <a:latin typeface="맑은 고딕" panose="020B0503020000020004" pitchFamily="50" charset="-127"/>
                <a:ea typeface="맑은 고딕" panose="020B0503020000020004" pitchFamily="50" charset="-127"/>
              </a:rPr>
              <a:t>관리자 권한으로 드라이브 마운트를 기본적으로 제공하도록 함</a:t>
            </a:r>
            <a:endParaRPr lang="en-US" altLang="ko-KR" sz="1200" b="1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052F07F4-98A7-0635-99C8-DFBA207F0556}"/>
              </a:ext>
            </a:extLst>
          </p:cNvPr>
          <p:cNvSpPr/>
          <p:nvPr/>
        </p:nvSpPr>
        <p:spPr>
          <a:xfrm>
            <a:off x="1322772" y="1766985"/>
            <a:ext cx="9264555" cy="279808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D29A7EBC-EB1E-47C3-7D54-0BD04F8E00A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84" r="1300" b="82701"/>
          <a:stretch/>
        </p:blipFill>
        <p:spPr>
          <a:xfrm>
            <a:off x="1244546" y="1032193"/>
            <a:ext cx="9495183" cy="734792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D8C517E9-E964-61F9-1C86-20403046A84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84" t="15894" r="1300" b="4552"/>
          <a:stretch/>
        </p:blipFill>
        <p:spPr>
          <a:xfrm>
            <a:off x="1244547" y="2154854"/>
            <a:ext cx="9231104" cy="328516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D216C4D-A929-2FFD-2069-98EE70A68F04}"/>
              </a:ext>
            </a:extLst>
          </p:cNvPr>
          <p:cNvSpPr txBox="1"/>
          <p:nvPr/>
        </p:nvSpPr>
        <p:spPr>
          <a:xfrm>
            <a:off x="1450812" y="1805067"/>
            <a:ext cx="587853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/>
              <a:t>혹시 </a:t>
            </a:r>
            <a:r>
              <a:rPr lang="en-US" altLang="ko-KR" sz="800"/>
              <a:t>Windows</a:t>
            </a:r>
            <a:r>
              <a:rPr lang="ko-KR" altLang="en-US" sz="800"/>
              <a:t>에서 드라이브가 정상적으로 마운트 되었지만</a:t>
            </a:r>
            <a:r>
              <a:rPr lang="en-US" altLang="ko-KR" sz="800"/>
              <a:t>, </a:t>
            </a:r>
            <a:r>
              <a:rPr lang="ko-KR" altLang="en-US" sz="800"/>
              <a:t>이용 시 알려지지 않은 장애현상을 경험하신 적이 있으신가요</a:t>
            </a:r>
            <a:r>
              <a:rPr lang="en-US" altLang="ko-KR" sz="800"/>
              <a:t>?</a:t>
            </a:r>
            <a:endParaRPr lang="ko-KR" altLang="en-US" sz="800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D337E5A5-4D16-82E0-99C0-472CBB247F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3816" y="3797434"/>
            <a:ext cx="436866" cy="224034"/>
          </a:xfrm>
          <a:prstGeom prst="rect">
            <a:avLst/>
          </a:prstGeom>
        </p:spPr>
      </p:pic>
      <p:sp>
        <p:nvSpPr>
          <p:cNvPr id="13" name="타원 12">
            <a:extLst>
              <a:ext uri="{FF2B5EF4-FFF2-40B4-BE49-F238E27FC236}">
                <a16:creationId xmlns:a16="http://schemas.microsoft.com/office/drawing/2014/main" id="{217484F8-DF87-1289-EF90-927AD86AB01E}"/>
              </a:ext>
            </a:extLst>
          </p:cNvPr>
          <p:cNvSpPr/>
          <p:nvPr/>
        </p:nvSpPr>
        <p:spPr>
          <a:xfrm>
            <a:off x="814864" y="3061897"/>
            <a:ext cx="128952" cy="128952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b="1"/>
              <a:t>!</a:t>
            </a:r>
            <a:endParaRPr lang="ko-KR" altLang="en-US" sz="600" b="1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EC856CF-BB01-3258-0E15-0B3944452F5D}"/>
              </a:ext>
            </a:extLst>
          </p:cNvPr>
          <p:cNvSpPr txBox="1"/>
          <p:nvPr/>
        </p:nvSpPr>
        <p:spPr>
          <a:xfrm>
            <a:off x="542574" y="2101369"/>
            <a:ext cx="5553426" cy="1631216"/>
          </a:xfrm>
          <a:prstGeom prst="rect">
            <a:avLst/>
          </a:prstGeom>
          <a:solidFill>
            <a:srgbClr val="C00000"/>
          </a:solidFill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>
                <a:solidFill>
                  <a:schemeClr val="bg1"/>
                </a:solidFill>
              </a:rPr>
              <a:t>기본적으로 </a:t>
            </a:r>
            <a:r>
              <a:rPr lang="en-US" altLang="ko-KR" sz="1000">
                <a:solidFill>
                  <a:schemeClr val="bg1"/>
                </a:solidFill>
              </a:rPr>
              <a:t>Windows </a:t>
            </a:r>
            <a:r>
              <a:rPr lang="ko-KR" altLang="en-US" sz="1000">
                <a:solidFill>
                  <a:schemeClr val="bg1"/>
                </a:solidFill>
              </a:rPr>
              <a:t>멀티유저 지원을 기본값으로 함 </a:t>
            </a:r>
            <a:endParaRPr lang="en-US" altLang="ko-KR" sz="1000">
              <a:solidFill>
                <a:schemeClr val="bg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>
                <a:solidFill>
                  <a:schemeClr val="bg1"/>
                </a:solidFill>
              </a:rPr>
              <a:t>관리자 권한 응용 프로그램 때문에 문제를 겪는 회사들이 </a:t>
            </a:r>
            <a:r>
              <a:rPr lang="en-US" altLang="ko-KR" sz="1000">
                <a:solidFill>
                  <a:schemeClr val="bg1"/>
                </a:solidFill>
              </a:rPr>
              <a:t>“</a:t>
            </a:r>
            <a:r>
              <a:rPr lang="ko-KR" altLang="en-US" sz="1000">
                <a:solidFill>
                  <a:schemeClr val="bg1"/>
                </a:solidFill>
              </a:rPr>
              <a:t>관리자 권한으로 드라이브 문자 마운트</a:t>
            </a:r>
            <a:r>
              <a:rPr lang="en-US" altLang="ko-KR" sz="1000">
                <a:solidFill>
                  <a:schemeClr val="bg1"/>
                </a:solidFill>
              </a:rPr>
              <a:t>＂</a:t>
            </a:r>
            <a:r>
              <a:rPr lang="ko-KR" altLang="en-US" sz="1000">
                <a:solidFill>
                  <a:schemeClr val="bg1"/>
                </a:solidFill>
              </a:rPr>
              <a:t>해서 사용할 수 있는 기능 제공함</a:t>
            </a:r>
            <a:endParaRPr lang="en-US" altLang="ko-KR" sz="1000">
              <a:solidFill>
                <a:schemeClr val="bg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>
                <a:solidFill>
                  <a:schemeClr val="bg1"/>
                </a:solidFill>
              </a:rPr>
              <a:t>해당 옵션 설정 시의 제약사항에 대한 설명을 제공하도록 함</a:t>
            </a:r>
            <a:endParaRPr lang="en-US" altLang="ko-KR" sz="1000">
              <a:solidFill>
                <a:schemeClr val="bg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bg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altLang="ko-KR" sz="1000">
              <a:solidFill>
                <a:schemeClr val="bg1"/>
              </a:solidFill>
            </a:endParaRPr>
          </a:p>
          <a:p>
            <a:r>
              <a:rPr lang="ko-KR" altLang="en-US" sz="1000">
                <a:solidFill>
                  <a:schemeClr val="bg1"/>
                </a:solidFill>
              </a:rPr>
              <a:t>설명이 많으므로</a:t>
            </a:r>
            <a:r>
              <a:rPr lang="en-US" altLang="ko-KR" sz="1000">
                <a:solidFill>
                  <a:schemeClr val="bg1"/>
                </a:solidFill>
              </a:rPr>
              <a:t>, </a:t>
            </a:r>
            <a:r>
              <a:rPr lang="ko-KR" altLang="en-US" sz="1000">
                <a:solidFill>
                  <a:schemeClr val="bg1"/>
                </a:solidFill>
              </a:rPr>
              <a:t>가급적이면 매뉴얼로 대체하거나 상세 내용은 </a:t>
            </a:r>
            <a:r>
              <a:rPr lang="en-US" altLang="ko-KR" sz="1000">
                <a:solidFill>
                  <a:schemeClr val="bg1"/>
                </a:solidFill>
              </a:rPr>
              <a:t>FAQ </a:t>
            </a:r>
            <a:r>
              <a:rPr lang="ko-KR" altLang="en-US" sz="1000">
                <a:solidFill>
                  <a:schemeClr val="bg1"/>
                </a:solidFill>
              </a:rPr>
              <a:t>페이지 </a:t>
            </a:r>
            <a:r>
              <a:rPr lang="en-US" altLang="ko-KR" sz="1000">
                <a:solidFill>
                  <a:schemeClr val="bg1"/>
                </a:solidFill>
              </a:rPr>
              <a:t>URL</a:t>
            </a:r>
            <a:r>
              <a:rPr lang="ko-KR" altLang="en-US" sz="1000">
                <a:solidFill>
                  <a:schemeClr val="bg1"/>
                </a:solidFill>
              </a:rPr>
              <a:t>을 제공했으면 하고</a:t>
            </a:r>
            <a:r>
              <a:rPr lang="en-US" altLang="ko-KR" sz="1000">
                <a:solidFill>
                  <a:schemeClr val="bg1"/>
                </a:solidFill>
              </a:rPr>
              <a:t>, </a:t>
            </a:r>
            <a:r>
              <a:rPr lang="ko-KR" altLang="en-US" sz="1000">
                <a:solidFill>
                  <a:schemeClr val="bg1"/>
                </a:solidFill>
              </a:rPr>
              <a:t>설정화면은 간결하게 제공하고 싶음</a:t>
            </a:r>
            <a:endParaRPr lang="en-US" altLang="ko-KR" sz="1000">
              <a:solidFill>
                <a:schemeClr val="bg1"/>
              </a:solidFill>
            </a:endParaRPr>
          </a:p>
          <a:p>
            <a:endParaRPr lang="en-US" altLang="ko-KR" sz="1000">
              <a:solidFill>
                <a:schemeClr val="bg1"/>
              </a:solidFill>
            </a:endParaRPr>
          </a:p>
          <a:p>
            <a:r>
              <a:rPr lang="ko-KR" altLang="en-US" sz="1000">
                <a:solidFill>
                  <a:schemeClr val="bg1"/>
                </a:solidFill>
              </a:rPr>
              <a:t>우측 화면은 일단 가급적 어떤 내용인지 내부에도 공유할 수 있도록 일부러 길게 작성한 것임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9E89BF0F-6B05-9E2B-92BC-661A6F9D3671}"/>
              </a:ext>
            </a:extLst>
          </p:cNvPr>
          <p:cNvSpPr/>
          <p:nvPr/>
        </p:nvSpPr>
        <p:spPr>
          <a:xfrm>
            <a:off x="6529526" y="2306816"/>
            <a:ext cx="4801247" cy="449806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2C14918-A658-3067-67DE-28C8231BD41B}"/>
              </a:ext>
            </a:extLst>
          </p:cNvPr>
          <p:cNvSpPr txBox="1"/>
          <p:nvPr/>
        </p:nvSpPr>
        <p:spPr>
          <a:xfrm>
            <a:off x="5557421" y="5637320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/>
              <a:t>ㅇㄹㅇㄹ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BCC751B-006B-11A1-19AC-27534A01300A}"/>
              </a:ext>
            </a:extLst>
          </p:cNvPr>
          <p:cNvSpPr txBox="1"/>
          <p:nvPr/>
        </p:nvSpPr>
        <p:spPr>
          <a:xfrm>
            <a:off x="6702780" y="2801725"/>
            <a:ext cx="4485483" cy="58477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ko-KR" sz="800"/>
              <a:t>DirectCloud-Drive</a:t>
            </a:r>
            <a:r>
              <a:rPr lang="ko-KR" altLang="en-US" sz="800"/>
              <a:t> </a:t>
            </a:r>
            <a:r>
              <a:rPr lang="en-US" altLang="ko-KR" sz="800"/>
              <a:t>Windows </a:t>
            </a:r>
            <a:r>
              <a:rPr lang="ko-KR" altLang="en-US" sz="800"/>
              <a:t>버전 실행 시</a:t>
            </a:r>
            <a:r>
              <a:rPr lang="en-US" altLang="ko-KR" sz="800"/>
              <a:t>, </a:t>
            </a:r>
            <a:r>
              <a:rPr lang="ko-KR" altLang="en-US" sz="800"/>
              <a:t>드라이브 문자를 마운트하는 권한에 따라</a:t>
            </a:r>
            <a:r>
              <a:rPr lang="en-US" altLang="ko-KR" sz="800"/>
              <a:t>, </a:t>
            </a:r>
            <a:r>
              <a:rPr lang="ko-KR" altLang="en-US" sz="800"/>
              <a:t>이용환경이 다르게 제공됩니다</a:t>
            </a:r>
            <a:r>
              <a:rPr lang="en-US" altLang="ko-KR" sz="800"/>
              <a:t>. </a:t>
            </a:r>
          </a:p>
          <a:p>
            <a:endParaRPr lang="en-US" altLang="ko-KR" sz="800"/>
          </a:p>
          <a:p>
            <a:r>
              <a:rPr lang="ko-KR" altLang="en-US" sz="800"/>
              <a:t>귀사의 사용환경에 맞는 사항을 선택해주세요</a:t>
            </a:r>
            <a:r>
              <a:rPr lang="en-US" altLang="ko-KR" sz="800"/>
              <a:t>.</a:t>
            </a:r>
            <a:endParaRPr lang="ko-KR" altLang="en-US" sz="800"/>
          </a:p>
        </p:txBody>
      </p:sp>
      <p:pic>
        <p:nvPicPr>
          <p:cNvPr id="20" name="그래픽 19" descr="커서 단색으로 채워진">
            <a:extLst>
              <a:ext uri="{FF2B5EF4-FFF2-40B4-BE49-F238E27FC236}">
                <a16:creationId xmlns:a16="http://schemas.microsoft.com/office/drawing/2014/main" id="{FD4351EC-EE72-A7A2-D94B-7E2FFC3D84B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192287" y="1843310"/>
            <a:ext cx="215283" cy="215283"/>
          </a:xfrm>
          <a:prstGeom prst="rect">
            <a:avLst/>
          </a:prstGeom>
        </p:spPr>
      </p:pic>
      <p:pic>
        <p:nvPicPr>
          <p:cNvPr id="22" name="그래픽 21" descr="배지 교차 윤곽선">
            <a:extLst>
              <a:ext uri="{FF2B5EF4-FFF2-40B4-BE49-F238E27FC236}">
                <a16:creationId xmlns:a16="http://schemas.microsoft.com/office/drawing/2014/main" id="{83ADDE1A-9049-D490-E64B-51A51B4F76E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806150" y="2359241"/>
            <a:ext cx="282606" cy="282606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A8AF5B7B-1FB0-7A9B-A304-9C5611B1FA2B}"/>
              </a:ext>
            </a:extLst>
          </p:cNvPr>
          <p:cNvSpPr txBox="1"/>
          <p:nvPr/>
        </p:nvSpPr>
        <p:spPr>
          <a:xfrm>
            <a:off x="6913341" y="3536404"/>
            <a:ext cx="343235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b="1"/>
              <a:t>Windows</a:t>
            </a:r>
            <a:r>
              <a:rPr lang="ko-KR" altLang="en-US" sz="800" b="1"/>
              <a:t>에 로그인된 사용자 권한으로 드라이브 문자 마운트 </a:t>
            </a:r>
            <a:r>
              <a:rPr lang="en-US" altLang="ko-KR" sz="800" b="1"/>
              <a:t>(</a:t>
            </a:r>
            <a:r>
              <a:rPr lang="ko-KR" altLang="en-US" sz="800" b="1"/>
              <a:t>기본값</a:t>
            </a:r>
            <a:r>
              <a:rPr lang="en-US" altLang="ko-KR" sz="800" b="1"/>
              <a:t>)</a:t>
            </a:r>
            <a:endParaRPr lang="ko-KR" altLang="en-US" sz="800" b="1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71B63CB-F7EE-78C1-1398-50FC05714838}"/>
              </a:ext>
            </a:extLst>
          </p:cNvPr>
          <p:cNvSpPr txBox="1"/>
          <p:nvPr/>
        </p:nvSpPr>
        <p:spPr>
          <a:xfrm>
            <a:off x="6913341" y="4890074"/>
            <a:ext cx="197361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b="1"/>
              <a:t>관리자 권한으로 드라이브 문자 마운트</a:t>
            </a:r>
          </a:p>
        </p:txBody>
      </p:sp>
      <p:sp>
        <p:nvSpPr>
          <p:cNvPr id="25" name="타원 24">
            <a:extLst>
              <a:ext uri="{FF2B5EF4-FFF2-40B4-BE49-F238E27FC236}">
                <a16:creationId xmlns:a16="http://schemas.microsoft.com/office/drawing/2014/main" id="{540FAB75-1E46-CDED-D6EE-BF7501618AF5}"/>
              </a:ext>
            </a:extLst>
          </p:cNvPr>
          <p:cNvSpPr/>
          <p:nvPr/>
        </p:nvSpPr>
        <p:spPr>
          <a:xfrm>
            <a:off x="6702780" y="3593402"/>
            <a:ext cx="148145" cy="148145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>
                <a:solidFill>
                  <a:schemeClr val="tx1">
                    <a:lumMod val="75000"/>
                    <a:lumOff val="25000"/>
                  </a:schemeClr>
                </a:solidFill>
              </a:rPr>
              <a:t>V</a:t>
            </a:r>
            <a:endParaRPr lang="ko-KR" altLang="en-US" sz="8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6" name="타원 25">
            <a:extLst>
              <a:ext uri="{FF2B5EF4-FFF2-40B4-BE49-F238E27FC236}">
                <a16:creationId xmlns:a16="http://schemas.microsoft.com/office/drawing/2014/main" id="{E2A9F558-EE78-76F5-9F15-E1C9A8B86F38}"/>
              </a:ext>
            </a:extLst>
          </p:cNvPr>
          <p:cNvSpPr/>
          <p:nvPr/>
        </p:nvSpPr>
        <p:spPr>
          <a:xfrm>
            <a:off x="6703008" y="4932931"/>
            <a:ext cx="148145" cy="148145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A31DDDE-0282-87E0-319B-575E2BFFC00D}"/>
              </a:ext>
            </a:extLst>
          </p:cNvPr>
          <p:cNvSpPr txBox="1"/>
          <p:nvPr/>
        </p:nvSpPr>
        <p:spPr>
          <a:xfrm>
            <a:off x="6921640" y="3815804"/>
            <a:ext cx="416711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/>
              <a:t>컴퓨터에 복수의 </a:t>
            </a:r>
            <a:r>
              <a:rPr lang="en-US" altLang="ko-KR" sz="800"/>
              <a:t>Windows </a:t>
            </a:r>
            <a:r>
              <a:rPr lang="ko-KR" altLang="en-US" sz="800"/>
              <a:t>계정을 등록하여 복수의 사용자가 동시에 사용하는 경우</a:t>
            </a:r>
            <a:endParaRPr lang="en-US" altLang="ko-KR" sz="800"/>
          </a:p>
          <a:p>
            <a:endParaRPr lang="en-US" altLang="ko-KR" sz="800"/>
          </a:p>
          <a:p>
            <a:r>
              <a:rPr lang="ko-KR" altLang="en-US" sz="800"/>
              <a:t>이 옵션 사용 시에는 관리자 권한으로 실행되는 응용프로그램에서 약간의 제약사항이 있습니다만</a:t>
            </a:r>
            <a:r>
              <a:rPr lang="en-US" altLang="ko-KR" sz="800"/>
              <a:t>, </a:t>
            </a:r>
            <a:r>
              <a:rPr lang="ko-KR" altLang="en-US" sz="800"/>
              <a:t>일반적인 응용 프로그램 들은 관리자 권한으로 실행되지 않으므로 크게 주의하지 않으셔도 됩니다</a:t>
            </a:r>
            <a:r>
              <a:rPr lang="en-US" altLang="ko-KR" sz="800"/>
              <a:t>. </a:t>
            </a:r>
            <a:r>
              <a:rPr lang="ko-KR" altLang="en-US" sz="800"/>
              <a:t>자세한 제약사항은 </a:t>
            </a:r>
            <a:r>
              <a:rPr lang="ko-KR" altLang="en-US" sz="800" u="sng"/>
              <a:t>여기</a:t>
            </a:r>
            <a:r>
              <a:rPr lang="ko-KR" altLang="en-US" sz="800"/>
              <a:t>를 통해 확인하세요</a:t>
            </a:r>
            <a:r>
              <a:rPr lang="en-US" altLang="ko-KR" sz="800"/>
              <a:t>.</a:t>
            </a:r>
            <a:endParaRPr lang="ko-KR" altLang="en-US" sz="800" strike="sngStrike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C67C7C4-2802-63F9-21AB-F5903BFC1781}"/>
              </a:ext>
            </a:extLst>
          </p:cNvPr>
          <p:cNvSpPr txBox="1"/>
          <p:nvPr/>
        </p:nvSpPr>
        <p:spPr>
          <a:xfrm>
            <a:off x="6921640" y="5164151"/>
            <a:ext cx="416711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/>
              <a:t>1</a:t>
            </a:r>
            <a:r>
              <a:rPr lang="ko-KR" altLang="en-US" sz="800"/>
              <a:t>개의 컴퓨터에서 </a:t>
            </a:r>
            <a:r>
              <a:rPr lang="en-US" altLang="ko-KR" sz="800"/>
              <a:t>1</a:t>
            </a:r>
            <a:r>
              <a:rPr lang="ko-KR" altLang="en-US" sz="800"/>
              <a:t>명의 사용자만 사용하는 경우</a:t>
            </a:r>
            <a:endParaRPr lang="en-US" altLang="ko-KR" sz="800"/>
          </a:p>
          <a:p>
            <a:endParaRPr lang="en-US" altLang="ko-KR" sz="800"/>
          </a:p>
          <a:p>
            <a:r>
              <a:rPr lang="ko-KR" altLang="en-US" sz="800"/>
              <a:t>이 옵션 선택 시에는 </a:t>
            </a:r>
            <a:r>
              <a:rPr lang="en-US" altLang="ko-KR" sz="800"/>
              <a:t>1</a:t>
            </a:r>
            <a:r>
              <a:rPr lang="ko-KR" altLang="en-US" sz="800"/>
              <a:t>개의 컴퓨터에서 복수의 사용자가 동시에 </a:t>
            </a:r>
            <a:r>
              <a:rPr lang="en-US" altLang="ko-KR" sz="800"/>
              <a:t>DirectCloud-Drive</a:t>
            </a:r>
            <a:r>
              <a:rPr lang="ko-KR" altLang="en-US" sz="800"/>
              <a:t>를 실행 시 계정 충돌</a:t>
            </a:r>
            <a:r>
              <a:rPr lang="en-US" altLang="ko-KR" sz="800"/>
              <a:t>/</a:t>
            </a:r>
            <a:r>
              <a:rPr lang="ko-KR" altLang="en-US" sz="800"/>
              <a:t>드라이브 문자 충돌 등에 의한 문제가 발생할 수 있으므로</a:t>
            </a:r>
            <a:r>
              <a:rPr lang="en-US" altLang="ko-KR" sz="800"/>
              <a:t>, 1</a:t>
            </a:r>
            <a:r>
              <a:rPr lang="ko-KR" altLang="en-US" sz="800"/>
              <a:t>개 컴퓨터에서 동시에 여러 명이 접속하여 사용하는 환경에서는 사용할 수 없습니다</a:t>
            </a:r>
            <a:r>
              <a:rPr lang="en-US" altLang="ko-KR" sz="800"/>
              <a:t>. </a:t>
            </a:r>
            <a:endParaRPr lang="ko-KR" altLang="en-US" sz="800" strike="sngStrike"/>
          </a:p>
        </p:txBody>
      </p:sp>
      <p:pic>
        <p:nvPicPr>
          <p:cNvPr id="31" name="그림 30">
            <a:extLst>
              <a:ext uri="{FF2B5EF4-FFF2-40B4-BE49-F238E27FC236}">
                <a16:creationId xmlns:a16="http://schemas.microsoft.com/office/drawing/2014/main" id="{4626E1E7-5954-2065-AA2C-2D949F9A508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143293" y="6319931"/>
            <a:ext cx="927162" cy="337752"/>
          </a:xfrm>
          <a:prstGeom prst="rect">
            <a:avLst/>
          </a:prstGeom>
        </p:spPr>
      </p:pic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3023ED72-90AA-AE63-C5DA-B49C34D06FCD}"/>
              </a:ext>
            </a:extLst>
          </p:cNvPr>
          <p:cNvCxnSpPr/>
          <p:nvPr/>
        </p:nvCxnSpPr>
        <p:spPr>
          <a:xfrm>
            <a:off x="6702641" y="4678533"/>
            <a:ext cx="4385569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직선 연결선 33">
            <a:extLst>
              <a:ext uri="{FF2B5EF4-FFF2-40B4-BE49-F238E27FC236}">
                <a16:creationId xmlns:a16="http://schemas.microsoft.com/office/drawing/2014/main" id="{1B3314FB-C39F-305C-7875-F31C47AFAE21}"/>
              </a:ext>
            </a:extLst>
          </p:cNvPr>
          <p:cNvCxnSpPr/>
          <p:nvPr/>
        </p:nvCxnSpPr>
        <p:spPr>
          <a:xfrm>
            <a:off x="6702641" y="5974672"/>
            <a:ext cx="4385569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C3763E1F-D1D6-E198-B260-C4238D86C718}"/>
              </a:ext>
            </a:extLst>
          </p:cNvPr>
          <p:cNvSpPr txBox="1"/>
          <p:nvPr/>
        </p:nvSpPr>
        <p:spPr>
          <a:xfrm>
            <a:off x="6602623" y="2391184"/>
            <a:ext cx="166584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b="1"/>
              <a:t>드라이브 문자 마운트 방법 설정</a:t>
            </a:r>
          </a:p>
        </p:txBody>
      </p:sp>
      <p:sp>
        <p:nvSpPr>
          <p:cNvPr id="36" name="화살표: 아래쪽 35">
            <a:extLst>
              <a:ext uri="{FF2B5EF4-FFF2-40B4-BE49-F238E27FC236}">
                <a16:creationId xmlns:a16="http://schemas.microsoft.com/office/drawing/2014/main" id="{15DCD1A6-5A7A-5711-4B80-C9E00AF17225}"/>
              </a:ext>
            </a:extLst>
          </p:cNvPr>
          <p:cNvSpPr/>
          <p:nvPr/>
        </p:nvSpPr>
        <p:spPr>
          <a:xfrm>
            <a:off x="6850925" y="2042603"/>
            <a:ext cx="268966" cy="232305"/>
          </a:xfrm>
          <a:prstGeom prst="downArrow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248999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13253</TotalTime>
  <Words>710</Words>
  <Application>Microsoft Office PowerPoint</Application>
  <PresentationFormat>와이드스크린</PresentationFormat>
  <Paragraphs>74</Paragraphs>
  <Slides>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9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안기섭</dc:creator>
  <cp:lastModifiedBy>안기섭</cp:lastModifiedBy>
  <cp:revision>41</cp:revision>
  <dcterms:created xsi:type="dcterms:W3CDTF">2023-03-03T06:55:25Z</dcterms:created>
  <dcterms:modified xsi:type="dcterms:W3CDTF">2023-07-27T09:04:49Z</dcterms:modified>
</cp:coreProperties>
</file>