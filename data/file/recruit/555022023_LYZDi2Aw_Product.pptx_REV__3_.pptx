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9" r:id="rId4"/>
    <p:sldId id="260" r:id="rId5"/>
    <p:sldId id="262" r:id="rId6"/>
    <p:sldId id="265" r:id="rId7"/>
    <p:sldId id="263" r:id="rId8"/>
    <p:sldId id="266" r:id="rId9"/>
    <p:sldId id="268" r:id="rId10"/>
    <p:sldId id="267" r:id="rId11"/>
    <p:sldId id="264" r:id="rId12"/>
    <p:sldId id="270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FF"/>
    <a:srgbClr val="FFCC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104" y="4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A5018-6310-4D43-AF13-74347F53F947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EC285-BB00-4E1E-8A37-FF850987DB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39141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AEC285-BB00-4E1E-8A37-FF850987DB7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14016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533617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50900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11629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3143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1866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87205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41629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22016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8524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98152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94795-EAE5-4FC2-ABC6-9A4EBB4CC001}" type="datetimeFigureOut">
              <a:rPr lang="ko-KR" altLang="en-US" smtClean="0"/>
              <a:pPr/>
              <a:t>2014-12-23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DE2A5-7B96-4574-B3E4-AF0310312A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84640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GxqRIZA38Cw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://www.youtube.com/v/GxqRIZA38Cw?version=2&amp;hl=ko_KR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://www.youtube.com/v/59pmB5gYTOI?hl=ko_KR&amp;version=2" TargetMode="External"/><Relationship Id="rId6" Type="http://schemas.openxmlformats.org/officeDocument/2006/relationships/hyperlink" Target="http://youtu.be/59pmB5gYTOI" TargetMode="External"/><Relationship Id="rId5" Type="http://schemas.openxmlformats.org/officeDocument/2006/relationships/hyperlink" Target="http://www.youtube.com/watch?v=59pmB5gYTOI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1p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4881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내용 개체 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919597325"/>
              </p:ext>
            </p:extLst>
          </p:nvPr>
        </p:nvGraphicFramePr>
        <p:xfrm>
          <a:off x="467544" y="1340770"/>
          <a:ext cx="5194919" cy="5066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1"/>
                <a:gridCol w="2088232"/>
                <a:gridCol w="1512168"/>
                <a:gridCol w="1152128"/>
              </a:tblGrid>
              <a:tr h="37607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50" kern="100" dirty="0"/>
                        <a:t>No.</a:t>
                      </a:r>
                      <a:endParaRPr lang="ko-KR" sz="105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762000" algn="l" latinLnBrk="1">
                        <a:spcAft>
                          <a:spcPts val="0"/>
                        </a:spcAft>
                      </a:pPr>
                      <a:r>
                        <a:rPr lang="en-US" sz="1050" kern="100" dirty="0" smtClean="0"/>
                        <a:t>Functionality</a:t>
                      </a:r>
                      <a:endParaRPr lang="ko-KR" sz="105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50" kern="100" dirty="0"/>
                        <a:t>Design &amp; Color</a:t>
                      </a:r>
                      <a:endParaRPr lang="ko-KR" sz="105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50" kern="100" dirty="0"/>
                        <a:t>Materials</a:t>
                      </a:r>
                      <a:endParaRPr lang="ko-KR" sz="105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9961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1</a:t>
                      </a:r>
                      <a:endParaRPr lang="ko-KR" sz="1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Easy remove (card)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Fancy &amp; Urban style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Flexible &amp; Strong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</a:tr>
              <a:tr h="107657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2</a:t>
                      </a:r>
                      <a:endParaRPr lang="ko-KR" sz="1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Card magnetic protection </a:t>
                      </a:r>
                      <a:r>
                        <a:rPr lang="en-US" sz="1000" kern="100" dirty="0" smtClean="0"/>
                        <a:t>by</a:t>
                      </a: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 smtClean="0"/>
                        <a:t> </a:t>
                      </a:r>
                      <a:r>
                        <a:rPr lang="en-US" sz="1000" kern="100" dirty="0"/>
                        <a:t>2 slim buttress which are placed </a:t>
                      </a:r>
                      <a:endParaRPr lang="en-US" sz="1000" kern="100" dirty="0" smtClean="0"/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 smtClean="0"/>
                        <a:t>in </a:t>
                      </a:r>
                      <a:r>
                        <a:rPr lang="en-US" sz="1000" kern="100" dirty="0"/>
                        <a:t>between </a:t>
                      </a:r>
                      <a:r>
                        <a:rPr lang="en-US" sz="1000" kern="100" baseline="0" dirty="0" smtClean="0"/>
                        <a:t> </a:t>
                      </a:r>
                      <a:r>
                        <a:rPr lang="en-US" sz="1000" kern="100" dirty="0" smtClean="0"/>
                        <a:t>2 </a:t>
                      </a:r>
                      <a:r>
                        <a:rPr lang="en-US" sz="1000" kern="100" dirty="0"/>
                        <a:t>PC plates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4000" algn="just" latinLnBrk="1">
                        <a:spcAft>
                          <a:spcPts val="0"/>
                        </a:spcAft>
                      </a:pPr>
                      <a:r>
                        <a:rPr lang="en-US" sz="1000" kern="100" dirty="0" smtClean="0"/>
                        <a:t>Ergonomic</a:t>
                      </a:r>
                    </a:p>
                    <a:p>
                      <a:pPr indent="254000" algn="just" latinLnBrk="1">
                        <a:spcAft>
                          <a:spcPts val="0"/>
                        </a:spcAft>
                      </a:pPr>
                      <a:endParaRPr lang="ko-KR" sz="1000" kern="100" dirty="0"/>
                    </a:p>
                    <a:p>
                      <a:pPr indent="127000" algn="just" latinLnBrk="1">
                        <a:spcAft>
                          <a:spcPts val="0"/>
                        </a:spcAft>
                      </a:pPr>
                      <a:r>
                        <a:rPr lang="ko-KR" sz="1000" kern="100" dirty="0"/>
                        <a:t>♦ </a:t>
                      </a:r>
                      <a:r>
                        <a:rPr lang="en-US" sz="1000" kern="100" dirty="0"/>
                        <a:t>Easy Holding</a:t>
                      </a:r>
                      <a:endParaRPr lang="ko-KR" sz="1000" kern="100" dirty="0"/>
                    </a:p>
                    <a:p>
                      <a:pPr indent="127000" algn="just" latinLnBrk="1">
                        <a:spcAft>
                          <a:spcPts val="0"/>
                        </a:spcAft>
                      </a:pPr>
                      <a:r>
                        <a:rPr lang="ko-KR" sz="1000" kern="100" dirty="0"/>
                        <a:t>♦</a:t>
                      </a:r>
                      <a:r>
                        <a:rPr lang="en-US" sz="1000" kern="100" dirty="0"/>
                        <a:t> Thumb Fit Cut</a:t>
                      </a:r>
                      <a:endParaRPr lang="ko-KR" sz="1000" kern="100" dirty="0"/>
                    </a:p>
                    <a:p>
                      <a:pPr indent="127000" algn="just" latinLnBrk="1">
                        <a:spcAft>
                          <a:spcPts val="0"/>
                        </a:spcAft>
                      </a:pPr>
                      <a:r>
                        <a:rPr lang="ko-KR" sz="1000" kern="100" dirty="0"/>
                        <a:t>♦ </a:t>
                      </a:r>
                      <a:r>
                        <a:rPr lang="en-US" sz="1000" kern="100" dirty="0"/>
                        <a:t>Wide S-pen hole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High quality’s </a:t>
                      </a:r>
                      <a:endParaRPr lang="ko-KR" sz="1000" kern="100" dirty="0"/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PC + </a:t>
                      </a:r>
                      <a:r>
                        <a:rPr lang="en-US" sz="1000" kern="100" dirty="0" smtClean="0"/>
                        <a:t>TPU 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</a:tr>
              <a:tr h="49961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/>
                        <a:t>3</a:t>
                      </a:r>
                      <a:endParaRPr lang="ko-KR" sz="10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Shockproof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Wide S-pen hole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Dirty- less Plate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</a:tr>
              <a:tr h="49961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4</a:t>
                      </a:r>
                      <a:endParaRPr lang="ko-KR" sz="1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Dustproof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Slim fit body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</a:tr>
              <a:tr h="49961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/>
                        <a:t>5</a:t>
                      </a:r>
                      <a:endParaRPr lang="ko-KR" sz="10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Transportation </a:t>
                      </a:r>
                      <a:r>
                        <a:rPr lang="en-US" sz="1000" kern="100" dirty="0" smtClean="0"/>
                        <a:t>Card</a:t>
                      </a: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 smtClean="0"/>
                        <a:t> </a:t>
                      </a:r>
                      <a:r>
                        <a:rPr lang="en-US" sz="1000" kern="100" dirty="0"/>
                        <a:t>Recharging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No joint-line on TPU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sz="1000" kern="10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</a:tr>
              <a:tr h="61596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6</a:t>
                      </a:r>
                      <a:endParaRPr lang="ko-KR" sz="1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Screen protection </a:t>
                      </a:r>
                      <a:endParaRPr lang="en-US" sz="1000" kern="100" dirty="0" smtClean="0"/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 smtClean="0"/>
                        <a:t>by </a:t>
                      </a:r>
                      <a:r>
                        <a:rPr lang="en-US" sz="1000" kern="100" dirty="0"/>
                        <a:t>prominent TPU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Gorgeous pearl on</a:t>
                      </a:r>
                      <a:endParaRPr lang="ko-KR" sz="1000" kern="100" dirty="0"/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classy 4 different </a:t>
                      </a:r>
                      <a:endParaRPr lang="en-US" sz="1000" kern="100" dirty="0" smtClean="0"/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 smtClean="0"/>
                        <a:t>colors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</a:tr>
              <a:tr h="49961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/>
                        <a:t>7</a:t>
                      </a:r>
                      <a:endParaRPr lang="ko-KR" sz="10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Trouble –free springs( Patent ) </a:t>
                      </a:r>
                      <a:endParaRPr lang="ko-KR" sz="1000" kern="100" dirty="0"/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for smooth card </a:t>
                      </a:r>
                      <a:r>
                        <a:rPr lang="en-US" sz="1000" kern="100" dirty="0" smtClean="0"/>
                        <a:t>in &amp;</a:t>
                      </a:r>
                      <a:r>
                        <a:rPr lang="en-US" sz="1000" kern="100" baseline="0" dirty="0" smtClean="0"/>
                        <a:t> </a:t>
                      </a:r>
                      <a:r>
                        <a:rPr lang="en-US" sz="1000" kern="100" dirty="0" smtClean="0"/>
                        <a:t>out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</a:tr>
              <a:tr h="49961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8</a:t>
                      </a:r>
                      <a:endParaRPr lang="ko-KR" sz="1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/>
                        <a:t>Push button </a:t>
                      </a:r>
                      <a:endParaRPr lang="en-US" sz="1000" kern="100" dirty="0" smtClean="0"/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 smtClean="0"/>
                        <a:t>to </a:t>
                      </a:r>
                      <a:r>
                        <a:rPr lang="en-US" sz="1000" kern="100" dirty="0"/>
                        <a:t>hold card tight</a:t>
                      </a:r>
                      <a:endParaRPr lang="ko-KR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sz="1000" kern="1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164" t="33913" r="25142" b="31850"/>
          <a:stretch/>
        </p:blipFill>
        <p:spPr>
          <a:xfrm>
            <a:off x="251520" y="116632"/>
            <a:ext cx="1152128" cy="576064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0" y="836712"/>
            <a:ext cx="9144000" cy="25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7647" b="23529"/>
          <a:stretch>
            <a:fillRect/>
          </a:stretch>
        </p:blipFill>
        <p:spPr>
          <a:xfrm>
            <a:off x="5645258" y="4221088"/>
            <a:ext cx="3498742" cy="216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47656" y="260648"/>
            <a:ext cx="3096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 smtClean="0">
                <a:latin typeface="바탕"/>
                <a:ea typeface="바탕"/>
              </a:rPr>
              <a:t>《 </a:t>
            </a:r>
            <a:r>
              <a:rPr lang="en-US" altLang="ko-KR" sz="2000" b="1" i="1" dirty="0" smtClean="0">
                <a:latin typeface="Cambria Math" pitchFamily="18" charset="0"/>
                <a:ea typeface="Cambria Math" pitchFamily="18" charset="0"/>
              </a:rPr>
              <a:t>Product’s Advantage </a:t>
            </a:r>
            <a:r>
              <a:rPr lang="en-US" altLang="ko-KR" sz="2000" b="1" i="1" dirty="0" smtClean="0">
                <a:latin typeface="바탕"/>
                <a:ea typeface="바탕"/>
              </a:rPr>
              <a:t>》</a:t>
            </a:r>
            <a:endParaRPr lang="ko-KR" altLang="en-US" sz="2000" b="1" i="1" dirty="0">
              <a:latin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04864"/>
            <a:ext cx="3031324" cy="30313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9552" y="1196752"/>
            <a:ext cx="1850507" cy="389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</a:t>
            </a:r>
            <a:r>
              <a:rPr lang="en-US" altLang="ko-KR" dirty="0" err="1" smtClean="0"/>
              <a:t>face</a:t>
            </a:r>
            <a:r>
              <a:rPr lang="en-US" altLang="ko-KR" dirty="0" smtClean="0"/>
              <a:t> innovation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0" y="836712"/>
            <a:ext cx="9144000" cy="25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689237" y="260648"/>
            <a:ext cx="5454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 smtClean="0">
                <a:latin typeface="바탕"/>
                <a:ea typeface="바탕"/>
              </a:rPr>
              <a:t>《 </a:t>
            </a:r>
            <a:r>
              <a:rPr lang="en-US" altLang="ko-KR" sz="2000" b="1" i="1" dirty="0" smtClean="0">
                <a:latin typeface="Cambria Math" pitchFamily="18" charset="0"/>
                <a:ea typeface="Cambria Math" pitchFamily="18" charset="0"/>
              </a:rPr>
              <a:t>Products Comparison in Size(mm)  &amp; Color </a:t>
            </a:r>
            <a:r>
              <a:rPr lang="en-US" altLang="ko-KR" sz="2000" b="1" i="1" dirty="0" smtClean="0">
                <a:latin typeface="바탕"/>
                <a:ea typeface="바탕"/>
              </a:rPr>
              <a:t>》</a:t>
            </a:r>
            <a:endParaRPr lang="ko-KR" altLang="en-US" sz="2000" b="1" i="1" dirty="0">
              <a:latin typeface="Cambria Math" pitchFamily="18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11296" y="2132856"/>
            <a:ext cx="3032704" cy="30327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0232" y="573325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 smtClean="0">
                <a:solidFill>
                  <a:srgbClr val="FF0000"/>
                </a:solidFill>
              </a:rPr>
              <a:t>     </a:t>
            </a:r>
            <a:endParaRPr lang="ko-KR" altLang="en-US" i="1" dirty="0"/>
          </a:p>
        </p:txBody>
      </p:sp>
      <p:grpSp>
        <p:nvGrpSpPr>
          <p:cNvPr id="16" name="그룹 15"/>
          <p:cNvGrpSpPr/>
          <p:nvPr/>
        </p:nvGrpSpPr>
        <p:grpSpPr>
          <a:xfrm>
            <a:off x="2915816" y="1196752"/>
            <a:ext cx="3032703" cy="4833828"/>
            <a:chOff x="-3449" y="1953008"/>
            <a:chExt cx="3032703" cy="4169278"/>
          </a:xfrm>
        </p:grpSpPr>
        <p:sp>
          <p:nvSpPr>
            <p:cNvPr id="9" name="TextBox 8"/>
            <p:cNvSpPr txBox="1"/>
            <p:nvPr/>
          </p:nvSpPr>
          <p:spPr>
            <a:xfrm>
              <a:off x="572615" y="5771942"/>
              <a:ext cx="675185" cy="35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smtClean="0"/>
                <a:t>      </a:t>
              </a:r>
              <a:endParaRPr lang="en-US" altLang="ko-KR" i="1" dirty="0" smtClean="0"/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3449" y="2478560"/>
              <a:ext cx="3032703" cy="3032703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716631" y="1953008"/>
              <a:ext cx="1382943" cy="35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ELAM-push</a:t>
              </a:r>
              <a:endParaRPr lang="ko-KR" altLang="en-US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017631" y="1196752"/>
            <a:ext cx="312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 smtClean="0"/>
              <a:t>Goospery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ipocket</a:t>
            </a:r>
            <a:r>
              <a:rPr lang="en-US" altLang="ko-KR" dirty="0" smtClean="0"/>
              <a:t> premium</a:t>
            </a:r>
            <a:endParaRPr lang="ko-KR" altLang="en-US" dirty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164" t="33913" r="25142" b="31850"/>
          <a:stretch/>
        </p:blipFill>
        <p:spPr>
          <a:xfrm>
            <a:off x="107504" y="98602"/>
            <a:ext cx="1152128" cy="576064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0" y="5661248"/>
            <a:ext cx="9144000" cy="25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/>
          <p:cNvCxnSpPr/>
          <p:nvPr/>
        </p:nvCxnSpPr>
        <p:spPr>
          <a:xfrm>
            <a:off x="2843808" y="1772816"/>
            <a:ext cx="0" cy="3744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5940152" y="1844824"/>
            <a:ext cx="0" cy="3744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69473827"/>
              </p:ext>
            </p:extLst>
          </p:nvPr>
        </p:nvGraphicFramePr>
        <p:xfrm>
          <a:off x="179512" y="5661248"/>
          <a:ext cx="8784976" cy="953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153"/>
                <a:gridCol w="1697143"/>
                <a:gridCol w="3096344"/>
                <a:gridCol w="3024336"/>
              </a:tblGrid>
              <a:tr h="3177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Thickness</a:t>
                      </a:r>
                      <a:endParaRPr lang="ko-KR" altLang="en-US" sz="1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Thick</a:t>
                      </a:r>
                      <a:endParaRPr lang="en-US" altLang="ko-KR" sz="1200" b="0" i="1" dirty="0" smtClean="0">
                        <a:solidFill>
                          <a:schemeClr val="tx1"/>
                        </a:solidFill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Slim</a:t>
                      </a:r>
                      <a:endParaRPr lang="ko-KR" altLang="en-US" sz="1200" b="1" i="1" dirty="0" smtClean="0">
                        <a:solidFill>
                          <a:srgbClr val="FF0000"/>
                        </a:solidFill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Thick</a:t>
                      </a:r>
                      <a:endParaRPr lang="en-US" altLang="ko-KR" sz="1200" b="0" i="1" dirty="0" smtClean="0">
                        <a:solidFill>
                          <a:schemeClr val="tx1"/>
                        </a:solidFill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/>
                </a:tc>
              </a:tr>
              <a:tr h="3177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Size</a:t>
                      </a:r>
                      <a:endParaRPr lang="ko-KR" altLang="en-US" sz="12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86 x 163 x 18</a:t>
                      </a:r>
                      <a:endParaRPr lang="en-US" altLang="ko-KR" sz="1200" i="1" dirty="0" smtClean="0">
                        <a:solidFill>
                          <a:schemeClr val="tx1"/>
                        </a:solidFill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83 x 158 x 15</a:t>
                      </a:r>
                      <a:endParaRPr lang="en-US" altLang="ko-KR" sz="1200" b="1" i="1" dirty="0" smtClean="0">
                        <a:solidFill>
                          <a:srgbClr val="FF0000"/>
                        </a:solidFill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84 x 159 x 18</a:t>
                      </a:r>
                      <a:endParaRPr lang="en-US" altLang="ko-KR" sz="1200" i="1" dirty="0" smtClean="0">
                        <a:solidFill>
                          <a:schemeClr val="tx1"/>
                        </a:solidFill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/>
                </a:tc>
              </a:tr>
              <a:tr h="3177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Color</a:t>
                      </a:r>
                      <a:endParaRPr lang="ko-KR" altLang="en-US" sz="12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Solid color</a:t>
                      </a:r>
                      <a:endParaRPr lang="ko-KR" altLang="en-US" sz="1200" i="1" dirty="0" smtClean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Pearl color</a:t>
                      </a:r>
                      <a:endParaRPr lang="en-US" altLang="ko-KR" sz="1200" i="1" dirty="0" smtClean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Solid color</a:t>
                      </a:r>
                      <a:endParaRPr lang="ko-KR" altLang="en-US" sz="1200" dirty="0"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타원 27"/>
          <p:cNvSpPr/>
          <p:nvPr/>
        </p:nvSpPr>
        <p:spPr>
          <a:xfrm>
            <a:off x="4644008" y="594928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4731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836712"/>
            <a:ext cx="9144000" cy="25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881" r="21032"/>
          <a:stretch/>
        </p:blipFill>
        <p:spPr>
          <a:xfrm>
            <a:off x="1331640" y="2060848"/>
            <a:ext cx="1605240" cy="16051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616" y="1556792"/>
            <a:ext cx="1850507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</a:t>
            </a:r>
            <a:r>
              <a:rPr lang="en-US" altLang="ko-KR" dirty="0" err="1" smtClean="0"/>
              <a:t>face</a:t>
            </a:r>
            <a:r>
              <a:rPr lang="en-US" altLang="ko-KR" dirty="0" smtClean="0"/>
              <a:t> innovation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099384" y="1556792"/>
            <a:ext cx="30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Goospery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ipocket</a:t>
            </a:r>
            <a:r>
              <a:rPr lang="en-US" altLang="ko-KR" dirty="0" smtClean="0"/>
              <a:t> premium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119664" y="260648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i="1" dirty="0" smtClean="0">
                <a:latin typeface="바탕"/>
                <a:ea typeface="바탕"/>
              </a:rPr>
              <a:t>《 </a:t>
            </a:r>
            <a:r>
              <a:rPr lang="en-US" altLang="ko-KR" sz="2000" b="1" i="1" dirty="0" smtClean="0">
                <a:latin typeface="Cambria Math" pitchFamily="18" charset="0"/>
                <a:ea typeface="Cambria Math" pitchFamily="18" charset="0"/>
              </a:rPr>
              <a:t>Card Holding system </a:t>
            </a:r>
            <a:r>
              <a:rPr lang="en-US" altLang="ko-KR" sz="2000" b="1" i="1" dirty="0" smtClean="0">
                <a:latin typeface="바탕"/>
                <a:ea typeface="바탕"/>
              </a:rPr>
              <a:t>》</a:t>
            </a:r>
            <a:endParaRPr lang="ko-KR" altLang="en-US" sz="2000" b="1" i="1" dirty="0">
              <a:latin typeface="Cambria Math" pitchFamily="18" charset="0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3779912" y="1556792"/>
            <a:ext cx="2109640" cy="2593961"/>
            <a:chOff x="3842503" y="1695186"/>
            <a:chExt cx="3019965" cy="3796090"/>
          </a:xfrm>
        </p:grpSpPr>
        <p:sp>
          <p:nvSpPr>
            <p:cNvPr id="9" name="TextBox 8"/>
            <p:cNvSpPr txBox="1"/>
            <p:nvPr/>
          </p:nvSpPr>
          <p:spPr>
            <a:xfrm>
              <a:off x="4048663" y="1695186"/>
              <a:ext cx="1382943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ELAM-push</a:t>
              </a:r>
              <a:endParaRPr lang="ko-KR" altLang="en-US" dirty="0"/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842503" y="2335684"/>
              <a:ext cx="3019965" cy="3155592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4211960" y="4941168"/>
              <a:ext cx="2088232" cy="4480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32240" y="2060848"/>
            <a:ext cx="1609856" cy="1609856"/>
          </a:xfrm>
          <a:prstGeom prst="rect">
            <a:avLst/>
          </a:prstGeom>
        </p:spPr>
      </p:pic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68146293"/>
              </p:ext>
            </p:extLst>
          </p:nvPr>
        </p:nvGraphicFramePr>
        <p:xfrm>
          <a:off x="215007" y="3861048"/>
          <a:ext cx="8749481" cy="2809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058"/>
                <a:gridCol w="2438380"/>
                <a:gridCol w="2500893"/>
                <a:gridCol w="2304150"/>
              </a:tblGrid>
              <a:tr h="309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  Comparison</a:t>
                      </a:r>
                      <a:endParaRPr lang="ko-KR" alt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err="1" smtClean="0"/>
                        <a:t>iface</a:t>
                      </a:r>
                      <a:r>
                        <a:rPr lang="en-US" altLang="ko-KR" sz="1050" dirty="0" smtClean="0"/>
                        <a:t> innovation</a:t>
                      </a:r>
                      <a:endParaRPr lang="ko-KR" altLang="en-US" sz="105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/>
                        <a:t>ELAM-push</a:t>
                      </a:r>
                      <a:endParaRPr lang="ko-KR" altLang="en-US" sz="105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err="1" smtClean="0"/>
                        <a:t>Goospery</a:t>
                      </a:r>
                      <a:r>
                        <a:rPr lang="en-US" altLang="ko-KR" sz="1050" dirty="0" smtClean="0"/>
                        <a:t> </a:t>
                      </a:r>
                      <a:r>
                        <a:rPr lang="en-US" altLang="ko-KR" sz="1050" dirty="0" err="1" smtClean="0"/>
                        <a:t>ipocket</a:t>
                      </a:r>
                      <a:r>
                        <a:rPr lang="en-US" altLang="ko-KR" sz="1050" dirty="0" smtClean="0"/>
                        <a:t> premium</a:t>
                      </a:r>
                      <a:endParaRPr lang="ko-KR" altLang="en-US" sz="105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482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Card Holding</a:t>
                      </a:r>
                      <a:r>
                        <a:rPr lang="en-US" altLang="ko-KR" sz="1000" baseline="0" dirty="0" smtClean="0"/>
                        <a:t> system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Manually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(Putting  card  in to &amp; out</a:t>
                      </a:r>
                      <a:r>
                        <a:rPr lang="en-US" altLang="ko-KR" sz="1000" baseline="0" dirty="0" smtClean="0"/>
                        <a:t>  is </a:t>
                      </a:r>
                      <a:r>
                        <a:rPr lang="en-US" altLang="ko-KR" sz="1000" dirty="0" smtClean="0"/>
                        <a:t>difficult)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Semi-auto 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(easy</a:t>
                      </a:r>
                      <a:r>
                        <a:rPr lang="en-US" altLang="ko-KR" sz="1000" baseline="0" dirty="0" smtClean="0"/>
                        <a:t> in &amp; out –press PUSH button)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   Manually 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(Putting in to &amp; out is difficult)</a:t>
                      </a:r>
                      <a:endParaRPr lang="ko-KR" altLang="en-US" sz="1000" dirty="0" smtClean="0"/>
                    </a:p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76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Transportation  card </a:t>
                      </a:r>
                      <a:r>
                        <a:rPr lang="en-US" altLang="ko-KR" sz="1000" baseline="0" dirty="0" smtClean="0"/>
                        <a:t>   </a:t>
                      </a:r>
                      <a:r>
                        <a:rPr lang="en-US" altLang="ko-KR" sz="1000" dirty="0" smtClean="0"/>
                        <a:t>recharging</a:t>
                      </a:r>
                      <a:endParaRPr lang="ko-KR" altLang="en-US" sz="1000" dirty="0" smtClean="0"/>
                    </a:p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effectLst/>
                        </a:rPr>
                        <a:t>Unavailable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effectLst/>
                        </a:rPr>
                        <a:t>Available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effectLst/>
                        </a:rPr>
                        <a:t>Available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5108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Card dropping safety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Card may falling out of the case.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Card never falling out of the case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(push-button</a:t>
                      </a:r>
                      <a:r>
                        <a:rPr lang="en-US" altLang="ko-KR" sz="1000" baseline="0" dirty="0" smtClean="0"/>
                        <a:t> holds the card)</a:t>
                      </a:r>
                      <a:endParaRPr lang="ko-KR" altLang="en-US" sz="1000" dirty="0" smtClean="0"/>
                    </a:p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Card may falling out of the case</a:t>
                      </a:r>
                      <a:endParaRPr lang="ko-KR" altLang="en-US" sz="1000" dirty="0" smtClean="0"/>
                    </a:p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7946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Card damage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Magnetic can be scratched.</a:t>
                      </a:r>
                      <a:r>
                        <a:rPr lang="en-US" altLang="ko-KR" sz="1000" baseline="0" dirty="0" smtClean="0"/>
                        <a:t>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Magnetic is protected.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-Card buttress lines are placed in between</a:t>
                      </a:r>
                      <a:r>
                        <a:rPr lang="en-US" altLang="ko-KR" sz="1000" baseline="0" dirty="0" smtClean="0"/>
                        <a:t> 2 PC plates </a:t>
                      </a:r>
                      <a:r>
                        <a:rPr lang="en-US" altLang="ko-KR" sz="1000" dirty="0" smtClean="0"/>
                        <a:t>(card </a:t>
                      </a:r>
                      <a:r>
                        <a:rPr lang="en-US" altLang="ko-KR" sz="1000" smtClean="0"/>
                        <a:t>is in the </a:t>
                      </a:r>
                      <a:r>
                        <a:rPr lang="en-US" altLang="ko-KR" sz="1000" dirty="0" smtClean="0"/>
                        <a:t>air between two plates)</a:t>
                      </a:r>
                    </a:p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•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dirty="0" smtClean="0"/>
                        <a:t>Magnetic can be scratched.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• Card may be bended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164" t="33913" r="25142" b="31850"/>
          <a:stretch/>
        </p:blipFill>
        <p:spPr>
          <a:xfrm>
            <a:off x="107504" y="98602"/>
            <a:ext cx="1152128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8076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실행 단추: 앞으로 또는 다음 2">
            <a:hlinkClick r:id="rId3" highlightClick="1"/>
          </p:cNvPr>
          <p:cNvSpPr/>
          <p:nvPr/>
        </p:nvSpPr>
        <p:spPr>
          <a:xfrm>
            <a:off x="4139141" y="5445224"/>
            <a:ext cx="864096" cy="576064"/>
          </a:xfrm>
          <a:prstGeom prst="actionButtonForwardNex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>
            <a:noFill/>
          </a:ln>
          <a:effectLst>
            <a:outerShdw blurRad="50800" dist="50800" dir="1800000" algn="ctr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 extrusionH="31750">
            <a:bevelT w="31750" h="88900"/>
            <a:bevelB w="31750"/>
            <a:extrusionClr>
              <a:schemeClr val="tx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836712"/>
            <a:ext cx="9144000" cy="25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164" t="33913" r="25142" b="31850"/>
          <a:stretch/>
        </p:blipFill>
        <p:spPr>
          <a:xfrm>
            <a:off x="107504" y="98602"/>
            <a:ext cx="1152128" cy="576064"/>
          </a:xfrm>
          <a:prstGeom prst="rect">
            <a:avLst/>
          </a:prstGeom>
        </p:spPr>
      </p:pic>
      <p:pic>
        <p:nvPicPr>
          <p:cNvPr id="11" name="GxqRIZA38Cw?version=2&amp;hl=ko_KR"/>
          <p:cNvPicPr>
            <a:picLocks noRot="1" noChangeAspect="1"/>
          </p:cNvPicPr>
          <p:nvPr>
            <a:videoFile r:link="rId1"/>
          </p:nvPr>
        </p:nvPicPr>
        <p:blipFill>
          <a:blip r:embed="rId5" cstate="print"/>
          <a:stretch>
            <a:fillRect/>
          </a:stretch>
        </p:blipFill>
        <p:spPr>
          <a:xfrm>
            <a:off x="1942237" y="1268760"/>
            <a:ext cx="5259525" cy="3944644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444208" y="316611"/>
            <a:ext cx="2601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1" dirty="0">
                <a:latin typeface="바탕"/>
                <a:ea typeface="바탕"/>
              </a:rPr>
              <a:t>《 </a:t>
            </a:r>
            <a:r>
              <a:rPr lang="en-US" altLang="ko-KR" b="1" i="1" dirty="0" smtClean="0">
                <a:latin typeface="Cambria Math" pitchFamily="18" charset="0"/>
                <a:ea typeface="Cambria Math" pitchFamily="18" charset="0"/>
              </a:rPr>
              <a:t>Easy remove (card)</a:t>
            </a:r>
            <a:r>
              <a:rPr lang="en-US" altLang="ko-KR" b="1" i="1" dirty="0" smtClean="0">
                <a:latin typeface="바탕"/>
                <a:ea typeface="바탕"/>
              </a:rPr>
              <a:t>》</a:t>
            </a:r>
            <a:endParaRPr lang="ko-KR" altLang="en-US" b="1" i="1" dirty="0">
              <a:latin typeface="Cambria Math" pitchFamily="18" charset="0"/>
            </a:endParaRPr>
          </a:p>
        </p:txBody>
      </p:sp>
      <p:sp>
        <p:nvSpPr>
          <p:cNvPr id="8193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 </a:t>
            </a:r>
            <a:r>
              <a:rPr kumimoji="1" lang="en-US" altLang="ko-KR" sz="900" b="0" i="0" u="none" strike="noStrike" cap="none" normalizeH="0" baseline="0" smtClean="0">
                <a:ln>
                  <a:noFill/>
                </a:ln>
                <a:solidFill>
                  <a:srgbClr val="1155CC"/>
                </a:solidFill>
                <a:effectLst/>
                <a:latin typeface="Arial" pitchFamily="34" charset="0"/>
                <a:ea typeface="굴림" pitchFamily="50" charset="-127"/>
                <a:cs typeface="Arial" pitchFamily="34" charset="0"/>
                <a:hlinkClick r:id="rId3"/>
              </a:rPr>
              <a:t>http://www.youtube.com/watch?v=GxqRIZA38Cw</a:t>
            </a:r>
            <a:r>
              <a:rPr kumimoji="1" lang="en-US" altLang="ko-KR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</a:t>
            </a:r>
            <a:endParaRPr kumimoji="1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 </a:t>
            </a:r>
            <a:r>
              <a:rPr kumimoji="1" lang="en-US" altLang="ko-KR" sz="900" b="0" i="0" u="none" strike="noStrike" cap="none" normalizeH="0" baseline="0" smtClean="0">
                <a:ln>
                  <a:noFill/>
                </a:ln>
                <a:solidFill>
                  <a:srgbClr val="1155CC"/>
                </a:solidFill>
                <a:effectLst/>
                <a:latin typeface="Arial" pitchFamily="34" charset="0"/>
                <a:ea typeface="굴림" pitchFamily="50" charset="-127"/>
                <a:cs typeface="Arial" pitchFamily="34" charset="0"/>
                <a:hlinkClick r:id="rId3"/>
              </a:rPr>
              <a:t>http://www.youtube.com/watch?v=GxqRIZA38Cw</a:t>
            </a:r>
            <a:r>
              <a:rPr kumimoji="1" lang="en-US" altLang="ko-KR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</a:t>
            </a:r>
            <a:endParaRPr kumimoji="1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07704" y="6381328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  </a:t>
            </a:r>
            <a:r>
              <a:rPr lang="en-US" altLang="ko-KR" dirty="0" smtClean="0">
                <a:hlinkClick r:id="rId3"/>
              </a:rPr>
              <a:t>http://www.youtube.com/watch?v=GxqRIZA38Cw</a:t>
            </a:r>
            <a:endParaRPr lang="ko-KR" altLang="en-US" dirty="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 </a:t>
            </a:r>
            <a:r>
              <a:rPr kumimoji="1" lang="en-US" altLang="ko-KR" sz="900" b="0" i="0" u="none" strike="noStrike" cap="none" normalizeH="0" baseline="0" smtClean="0">
                <a:ln>
                  <a:noFill/>
                </a:ln>
                <a:solidFill>
                  <a:srgbClr val="1155CC"/>
                </a:solidFill>
                <a:effectLst/>
                <a:latin typeface="Arial" pitchFamily="34" charset="0"/>
                <a:ea typeface="굴림" pitchFamily="50" charset="-127"/>
                <a:cs typeface="Arial" pitchFamily="34" charset="0"/>
                <a:hlinkClick r:id="rId3"/>
              </a:rPr>
              <a:t>http://www.youtube.com/watch?v=GxqRIZA38Cw</a:t>
            </a:r>
            <a:r>
              <a:rPr kumimoji="1" lang="en-US" altLang="ko-KR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</a:t>
            </a:r>
            <a:endParaRPr kumimoji="1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  </a:t>
            </a:r>
            <a:r>
              <a:rPr kumimoji="1" lang="en-US" altLang="ko-KR" sz="900" b="0" i="0" u="none" strike="noStrike" cap="none" normalizeH="0" baseline="0" smtClean="0">
                <a:ln>
                  <a:noFill/>
                </a:ln>
                <a:solidFill>
                  <a:srgbClr val="1155CC"/>
                </a:solidFill>
                <a:effectLst/>
                <a:latin typeface="Arial" pitchFamily="34" charset="0"/>
                <a:ea typeface="굴림" pitchFamily="50" charset="-127"/>
                <a:cs typeface="Arial" pitchFamily="34" charset="0"/>
                <a:hlinkClick r:id="rId3"/>
              </a:rPr>
              <a:t>http://www.youtube.com/watch?v=GxqRIZA38Cw</a:t>
            </a:r>
            <a:r>
              <a:rPr kumimoji="1" lang="en-US" altLang="ko-KR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</a:t>
            </a:r>
            <a:endParaRPr kumimoji="1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7598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836712"/>
            <a:ext cx="9144000" cy="25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164" t="33913" r="25142" b="31850"/>
          <a:stretch/>
        </p:blipFill>
        <p:spPr>
          <a:xfrm>
            <a:off x="107504" y="98602"/>
            <a:ext cx="1152128" cy="57606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286000" y="98072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Trouble –free springs( Patent ) </a:t>
            </a:r>
            <a:endParaRPr lang="ko-KR" altLang="ko-KR" kern="1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 algn="ctr"/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for smooth card in &amp; out</a:t>
            </a:r>
            <a:endParaRPr lang="ko-KR" altLang="ko-KR" kern="1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380312" y="308589"/>
            <a:ext cx="1417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1" dirty="0">
                <a:latin typeface="Cambria Math" pitchFamily="18" charset="0"/>
                <a:ea typeface="Cambria Math" pitchFamily="18" charset="0"/>
              </a:rPr>
              <a:t>《 </a:t>
            </a:r>
            <a:r>
              <a:rPr lang="en-US" altLang="ko-KR" b="1" i="1" dirty="0" smtClean="0">
                <a:latin typeface="Cambria Math" pitchFamily="18" charset="0"/>
                <a:ea typeface="Cambria Math" pitchFamily="18" charset="0"/>
              </a:rPr>
              <a:t>Springs</a:t>
            </a:r>
            <a:r>
              <a:rPr lang="en-US" altLang="ko-KR" b="1" i="1" dirty="0" smtClean="0">
                <a:latin typeface="바탕"/>
                <a:ea typeface="바탕"/>
              </a:rPr>
              <a:t>》</a:t>
            </a:r>
            <a:endParaRPr lang="ko-KR" altLang="en-US" b="1" i="1" dirty="0">
              <a:latin typeface="Cambria Math" pitchFamily="18" charset="0"/>
            </a:endParaRPr>
          </a:p>
        </p:txBody>
      </p:sp>
      <p:pic>
        <p:nvPicPr>
          <p:cNvPr id="3" name="59pmB5gYTOI?hl=ko_KR&amp;version=2"/>
          <p:cNvPicPr>
            <a:picLocks noRot="1" noChangeAspect="1"/>
          </p:cNvPicPr>
          <p:nvPr>
            <a:videoFile r:link="rId1"/>
          </p:nvPr>
        </p:nvPicPr>
        <p:blipFill>
          <a:blip r:embed="rId4" cstate="print"/>
          <a:stretch>
            <a:fillRect/>
          </a:stretch>
        </p:blipFill>
        <p:spPr>
          <a:xfrm>
            <a:off x="2123729" y="1628800"/>
            <a:ext cx="4752528" cy="3965747"/>
          </a:xfrm>
          <a:prstGeom prst="rect">
            <a:avLst/>
          </a:prstGeom>
        </p:spPr>
      </p:pic>
      <p:sp>
        <p:nvSpPr>
          <p:cNvPr id="7" name="실행 단추: 앞으로 또는 다음 6">
            <a:hlinkClick r:id="rId5" highlightClick="1"/>
          </p:cNvPr>
          <p:cNvSpPr/>
          <p:nvPr/>
        </p:nvSpPr>
        <p:spPr>
          <a:xfrm>
            <a:off x="4139952" y="5661248"/>
            <a:ext cx="864096" cy="576064"/>
          </a:xfrm>
          <a:prstGeom prst="actionButtonForwardNex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>
            <a:noFill/>
          </a:ln>
          <a:effectLst>
            <a:outerShdw blurRad="50800" dist="50800" dir="1800000" algn="ctr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 extrusionH="31750">
            <a:bevelT w="31750" h="88900"/>
            <a:bevelB w="31750"/>
            <a:extrusionClr>
              <a:schemeClr val="tx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771800" y="6309320"/>
            <a:ext cx="3563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hlinkClick r:id="rId6"/>
              </a:rPr>
              <a:t>http://</a:t>
            </a:r>
            <a:r>
              <a:rPr lang="en-US" altLang="ko-KR" dirty="0" smtClean="0">
                <a:hlinkClick r:id="rId6"/>
              </a:rPr>
              <a:t>youtu.be/59pmB5gYTOI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1805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836712"/>
            <a:ext cx="9144000" cy="25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164" t="33913" r="25142" b="31850"/>
          <a:stretch/>
        </p:blipFill>
        <p:spPr>
          <a:xfrm>
            <a:off x="107504" y="98602"/>
            <a:ext cx="1152128" cy="576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82100" y="1412775"/>
            <a:ext cx="9361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Card magnetic protection </a:t>
            </a:r>
            <a:r>
              <a:rPr lang="en-US" altLang="ko-KR" kern="100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by 2 </a:t>
            </a:r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slim buttress which are placed </a:t>
            </a:r>
            <a:r>
              <a:rPr lang="en-US" altLang="ko-KR" kern="100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in </a:t>
            </a:r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between  2 PC plates</a:t>
            </a:r>
            <a:endParaRPr lang="ko-KR" altLang="ko-KR" kern="1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98420" y="2780928"/>
            <a:ext cx="3816424" cy="381642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3568" y="2780928"/>
            <a:ext cx="3816424" cy="3816424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300192" y="305334"/>
            <a:ext cx="2633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1" dirty="0">
                <a:latin typeface="Cambria Math" pitchFamily="18" charset="0"/>
                <a:ea typeface="Cambria Math" pitchFamily="18" charset="0"/>
              </a:rPr>
              <a:t>《 </a:t>
            </a:r>
            <a:r>
              <a:rPr lang="en-US" altLang="ko-KR" b="1" i="1" dirty="0" smtClean="0">
                <a:latin typeface="Cambria Math" pitchFamily="18" charset="0"/>
                <a:ea typeface="Cambria Math" pitchFamily="18" charset="0"/>
              </a:rPr>
              <a:t>magnetic Protection</a:t>
            </a:r>
            <a:r>
              <a:rPr lang="en-US" altLang="ko-KR" b="1" i="1" dirty="0" smtClean="0">
                <a:latin typeface="바탕"/>
                <a:ea typeface="바탕"/>
              </a:rPr>
              <a:t>》</a:t>
            </a:r>
            <a:endParaRPr lang="ko-KR" altLang="en-US" b="1" i="1" dirty="0">
              <a:latin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3281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836712"/>
            <a:ext cx="9144000" cy="25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164" t="33913" r="25142" b="31850"/>
          <a:stretch/>
        </p:blipFill>
        <p:spPr>
          <a:xfrm>
            <a:off x="107504" y="98602"/>
            <a:ext cx="1152128" cy="57606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364088" y="305334"/>
            <a:ext cx="3688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1" dirty="0">
                <a:latin typeface="Cambria Math" pitchFamily="18" charset="0"/>
                <a:ea typeface="Cambria Math" pitchFamily="18" charset="0"/>
              </a:rPr>
              <a:t>《 </a:t>
            </a:r>
            <a:r>
              <a:rPr lang="en-US" altLang="ko-KR" b="1" i="1" dirty="0" smtClean="0">
                <a:latin typeface="Cambria Math" pitchFamily="18" charset="0"/>
                <a:ea typeface="Cambria Math" pitchFamily="18" charset="0"/>
              </a:rPr>
              <a:t>Push button&amp;</a:t>
            </a:r>
            <a:r>
              <a:rPr lang="en-US" altLang="ko-KR" b="1" i="1" dirty="0">
                <a:latin typeface="Cambria Math" pitchFamily="18" charset="0"/>
                <a:ea typeface="Cambria Math" pitchFamily="18" charset="0"/>
              </a:rPr>
              <a:t> Wide S-pen hole </a:t>
            </a:r>
            <a:r>
              <a:rPr lang="en-US" altLang="ko-KR" b="1" i="1" dirty="0" smtClean="0">
                <a:latin typeface="바탕"/>
                <a:ea typeface="바탕"/>
              </a:rPr>
              <a:t>》</a:t>
            </a:r>
            <a:endParaRPr lang="ko-KR" altLang="en-US" b="1" i="1" dirty="0">
              <a:latin typeface="Cambria Math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-161191" y="148478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Push button </a:t>
            </a:r>
            <a:r>
              <a:rPr lang="en-US" altLang="ko-KR" kern="100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to </a:t>
            </a:r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hold card tight</a:t>
            </a:r>
            <a:endParaRPr lang="ko-KR" altLang="ko-KR" kern="1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3527" y="2212099"/>
            <a:ext cx="4097221" cy="409722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16016" y="2227972"/>
            <a:ext cx="4081348" cy="408134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4856168" y="1484784"/>
            <a:ext cx="3801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kern="100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S-pen hole &amp; Gorgeous pearl color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43020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836712"/>
            <a:ext cx="9144000" cy="25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164" t="33913" r="25142" b="31850"/>
          <a:stretch/>
        </p:blipFill>
        <p:spPr>
          <a:xfrm>
            <a:off x="107504" y="98602"/>
            <a:ext cx="1152128" cy="57606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3528" y="1789500"/>
            <a:ext cx="4104456" cy="410445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16016" y="1789500"/>
            <a:ext cx="4104456" cy="410445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7434965" y="305334"/>
            <a:ext cx="1457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1" dirty="0">
                <a:latin typeface="Cambria Math" pitchFamily="18" charset="0"/>
                <a:ea typeface="Cambria Math" pitchFamily="18" charset="0"/>
              </a:rPr>
              <a:t>《 </a:t>
            </a:r>
            <a:r>
              <a:rPr lang="en-US" altLang="ko-KR" b="1" i="1" dirty="0" smtClean="0">
                <a:latin typeface="Cambria Math" pitchFamily="18" charset="0"/>
                <a:ea typeface="Cambria Math" pitchFamily="18" charset="0"/>
              </a:rPr>
              <a:t>exterior</a:t>
            </a:r>
            <a:r>
              <a:rPr lang="en-US" altLang="ko-KR" b="1" i="1" dirty="0" smtClean="0">
                <a:latin typeface="바탕"/>
                <a:ea typeface="바탕"/>
              </a:rPr>
              <a:t>》</a:t>
            </a:r>
            <a:endParaRPr lang="ko-KR" altLang="en-US" b="1" i="1" dirty="0">
              <a:latin typeface="Cambria Math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655046" y="1196752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Slim fit body</a:t>
            </a:r>
            <a:endParaRPr lang="ko-KR" altLang="ko-KR" kern="1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944941" y="1199865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Thumb Fit Cut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43020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836712"/>
            <a:ext cx="9144000" cy="25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164" t="33913" r="25142" b="31850"/>
          <a:stretch/>
        </p:blipFill>
        <p:spPr>
          <a:xfrm>
            <a:off x="107504" y="98602"/>
            <a:ext cx="1152128" cy="57606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434965" y="305334"/>
            <a:ext cx="1457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1" dirty="0">
                <a:latin typeface="Cambria Math" pitchFamily="18" charset="0"/>
                <a:ea typeface="Cambria Math" pitchFamily="18" charset="0"/>
              </a:rPr>
              <a:t>《 </a:t>
            </a:r>
            <a:r>
              <a:rPr lang="en-US" altLang="ko-KR" b="1" i="1" dirty="0" smtClean="0">
                <a:latin typeface="Cambria Math" pitchFamily="18" charset="0"/>
                <a:ea typeface="Cambria Math" pitchFamily="18" charset="0"/>
              </a:rPr>
              <a:t>exterior</a:t>
            </a:r>
            <a:r>
              <a:rPr lang="en-US" altLang="ko-KR" b="1" i="1" dirty="0" smtClean="0">
                <a:latin typeface="바탕"/>
                <a:ea typeface="바탕"/>
              </a:rPr>
              <a:t>》</a:t>
            </a:r>
            <a:endParaRPr lang="ko-KR" altLang="en-US" b="1" i="1" dirty="0">
              <a:latin typeface="Cambria Math" pitchFamily="18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268574" y="1425707"/>
            <a:ext cx="2249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No joint-line on TPU</a:t>
            </a:r>
            <a:endParaRPr lang="ko-KR" altLang="ko-KR" kern="1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813474" y="142570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Dirty- less Plate</a:t>
            </a:r>
            <a:endParaRPr lang="ko-KR" altLang="ko-KR" kern="1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8499" y="1988840"/>
            <a:ext cx="4069485" cy="406948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78979" y="1988840"/>
            <a:ext cx="4069485" cy="406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3020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836712"/>
            <a:ext cx="9144000" cy="25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164" t="33913" r="25142" b="31850"/>
          <a:stretch/>
        </p:blipFill>
        <p:spPr>
          <a:xfrm>
            <a:off x="107504" y="98602"/>
            <a:ext cx="1152128" cy="57606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051711" y="1412776"/>
            <a:ext cx="4752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Screen protection </a:t>
            </a:r>
            <a:r>
              <a:rPr lang="en-US" altLang="ko-KR" kern="100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by </a:t>
            </a:r>
            <a:r>
              <a:rPr lang="en-US" altLang="ko-KR" kern="1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prominent TPU</a:t>
            </a:r>
            <a:endParaRPr lang="ko-KR" altLang="ko-KR" kern="1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2000" y="2564904"/>
            <a:ext cx="4032448" cy="403244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1225" y="2564904"/>
            <a:ext cx="4032449" cy="403244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300192" y="305334"/>
            <a:ext cx="2392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1" dirty="0">
                <a:latin typeface="Cambria Math" pitchFamily="18" charset="0"/>
                <a:ea typeface="Cambria Math" pitchFamily="18" charset="0"/>
              </a:rPr>
              <a:t>《 </a:t>
            </a:r>
            <a:r>
              <a:rPr lang="en-US" altLang="ko-KR" b="1" i="1" dirty="0" smtClean="0">
                <a:latin typeface="Cambria Math" pitchFamily="18" charset="0"/>
                <a:ea typeface="Cambria Math" pitchFamily="18" charset="0"/>
              </a:rPr>
              <a:t>Screen protection</a:t>
            </a:r>
            <a:r>
              <a:rPr lang="en-US" altLang="ko-KR" b="1" i="1" dirty="0" smtClean="0">
                <a:latin typeface="바탕"/>
                <a:ea typeface="바탕"/>
              </a:rPr>
              <a:t>》</a:t>
            </a:r>
            <a:endParaRPr lang="ko-KR" altLang="en-US" b="1" i="1" dirty="0">
              <a:latin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18052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836712"/>
            <a:ext cx="9144000" cy="25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164" t="33913" r="25142" b="31850"/>
          <a:stretch/>
        </p:blipFill>
        <p:spPr>
          <a:xfrm>
            <a:off x="107504" y="98602"/>
            <a:ext cx="1152128" cy="57606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7668344" y="305334"/>
            <a:ext cx="1180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1" dirty="0">
                <a:latin typeface="Cambria Math" pitchFamily="18" charset="0"/>
                <a:ea typeface="Cambria Math" pitchFamily="18" charset="0"/>
              </a:rPr>
              <a:t>《 </a:t>
            </a:r>
            <a:r>
              <a:rPr lang="en-US" altLang="ko-KR" b="1" i="1" dirty="0" smtClean="0">
                <a:latin typeface="Cambria Math" pitchFamily="18" charset="0"/>
                <a:ea typeface="Cambria Math" pitchFamily="18" charset="0"/>
              </a:rPr>
              <a:t>Price</a:t>
            </a:r>
            <a:r>
              <a:rPr lang="en-US" altLang="ko-KR" b="1" i="1" dirty="0" smtClean="0">
                <a:latin typeface="바탕"/>
                <a:ea typeface="바탕"/>
              </a:rPr>
              <a:t>》</a:t>
            </a:r>
            <a:endParaRPr lang="ko-KR" altLang="en-US" b="1" i="1" dirty="0">
              <a:latin typeface="Cambria Math" pitchFamily="18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84168" y="3927478"/>
            <a:ext cx="2481165" cy="25337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7544" y="1268760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 smtClean="0"/>
              <a:t>* Price is negotiable depends on your order quantity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11871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400</Words>
  <Application>Microsoft Office PowerPoint</Application>
  <PresentationFormat>화면 슬라이드 쇼(4:3)</PresentationFormat>
  <Paragraphs>118</Paragraphs>
  <Slides>12</Slides>
  <Notes>1</Notes>
  <HiddenSlides>0</HiddenSlides>
  <MMClips>2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lg</cp:lastModifiedBy>
  <cp:revision>49</cp:revision>
  <dcterms:created xsi:type="dcterms:W3CDTF">2014-11-09T15:12:58Z</dcterms:created>
  <dcterms:modified xsi:type="dcterms:W3CDTF">2014-12-23T04:06:49Z</dcterms:modified>
</cp:coreProperties>
</file>