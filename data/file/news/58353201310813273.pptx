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"/>
  </p:handoutMasterIdLst>
  <p:sldIdLst>
    <p:sldId id="257" r:id="rId2"/>
  </p:sldIdLst>
  <p:sldSz cx="6858000" cy="9144000" type="screen4x3"/>
  <p:notesSz cx="6888163" cy="100203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0" d="100"/>
          <a:sy n="90" d="100"/>
        </p:scale>
        <p:origin x="-2850" y="28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98BEF0-CC07-4A7B-9CF7-FCCC22B118DE}" type="datetimeFigureOut">
              <a:rPr kumimoji="1" lang="ja-JP" altLang="en-US" smtClean="0"/>
              <a:t>2013/10/7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902075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5E465E-BDFF-48BE-9DA3-76FB41279A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03518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854FA-FA49-4470-92BC-39EC169FFFD0}" type="datetimeFigureOut">
              <a:rPr kumimoji="1" lang="ja-JP" altLang="en-US" smtClean="0"/>
              <a:t>2013/10/7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A2E13-CF99-4A2C-B578-458EF8D1BC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6871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854FA-FA49-4470-92BC-39EC169FFFD0}" type="datetimeFigureOut">
              <a:rPr kumimoji="1" lang="ja-JP" altLang="en-US" smtClean="0"/>
              <a:t>2013/10/7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A2E13-CF99-4A2C-B578-458EF8D1BC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7739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854FA-FA49-4470-92BC-39EC169FFFD0}" type="datetimeFigureOut">
              <a:rPr kumimoji="1" lang="ja-JP" altLang="en-US" smtClean="0"/>
              <a:t>2013/10/7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A2E13-CF99-4A2C-B578-458EF8D1BC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9189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854FA-FA49-4470-92BC-39EC169FFFD0}" type="datetimeFigureOut">
              <a:rPr kumimoji="1" lang="ja-JP" altLang="en-US" smtClean="0"/>
              <a:t>2013/10/7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A2E13-CF99-4A2C-B578-458EF8D1BC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5096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854FA-FA49-4470-92BC-39EC169FFFD0}" type="datetimeFigureOut">
              <a:rPr kumimoji="1" lang="ja-JP" altLang="en-US" smtClean="0"/>
              <a:t>2013/10/7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A2E13-CF99-4A2C-B578-458EF8D1BC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7626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854FA-FA49-4470-92BC-39EC169FFFD0}" type="datetimeFigureOut">
              <a:rPr kumimoji="1" lang="ja-JP" altLang="en-US" smtClean="0"/>
              <a:t>2013/10/7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A2E13-CF99-4A2C-B578-458EF8D1BC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8673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854FA-FA49-4470-92BC-39EC169FFFD0}" type="datetimeFigureOut">
              <a:rPr kumimoji="1" lang="ja-JP" altLang="en-US" smtClean="0"/>
              <a:t>2013/10/7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A2E13-CF99-4A2C-B578-458EF8D1BC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8982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854FA-FA49-4470-92BC-39EC169FFFD0}" type="datetimeFigureOut">
              <a:rPr kumimoji="1" lang="ja-JP" altLang="en-US" smtClean="0"/>
              <a:t>2013/10/7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A2E13-CF99-4A2C-B578-458EF8D1BC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7291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854FA-FA49-4470-92BC-39EC169FFFD0}" type="datetimeFigureOut">
              <a:rPr kumimoji="1" lang="ja-JP" altLang="en-US" smtClean="0"/>
              <a:t>2013/10/7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A2E13-CF99-4A2C-B578-458EF8D1BC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2518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854FA-FA49-4470-92BC-39EC169FFFD0}" type="datetimeFigureOut">
              <a:rPr kumimoji="1" lang="ja-JP" altLang="en-US" smtClean="0"/>
              <a:t>2013/10/7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A2E13-CF99-4A2C-B578-458EF8D1BC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2573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854FA-FA49-4470-92BC-39EC169FFFD0}" type="datetimeFigureOut">
              <a:rPr kumimoji="1" lang="ja-JP" altLang="en-US" smtClean="0"/>
              <a:t>2013/10/7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A2E13-CF99-4A2C-B578-458EF8D1BC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170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A854FA-FA49-4470-92BC-39EC169FFFD0}" type="datetimeFigureOut">
              <a:rPr kumimoji="1" lang="ja-JP" altLang="en-US" smtClean="0"/>
              <a:t>2013/10/7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2A2E13-CF99-4A2C-B578-458EF8D1BC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0931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blu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4553" y="-306288"/>
            <a:ext cx="6934315" cy="9468544"/>
          </a:xfrm>
          <a:prstGeom prst="rect">
            <a:avLst/>
          </a:prstGeom>
        </p:spPr>
      </p:pic>
      <p:pic>
        <p:nvPicPr>
          <p:cNvPr id="9" name="그림 8" descr="frame_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68660" y="179512"/>
            <a:ext cx="6228692" cy="864096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692696" y="179512"/>
            <a:ext cx="484253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000" b="1" dirty="0" smtClean="0">
                <a:solidFill>
                  <a:schemeClr val="bg2">
                    <a:lumMod val="25000"/>
                  </a:schemeClr>
                </a:solidFill>
                <a:latin typeface="HGP教科書体" pitchFamily="18" charset="-128"/>
                <a:ea typeface="HGP教科書体" pitchFamily="18" charset="-128"/>
              </a:rPr>
              <a:t>「大使館＆超善玉料理研究院」コラボ</a:t>
            </a:r>
            <a:endParaRPr lang="en-US" altLang="ko-KR" sz="2000" b="1" dirty="0" smtClean="0">
              <a:solidFill>
                <a:schemeClr val="bg2">
                  <a:lumMod val="25000"/>
                </a:schemeClr>
              </a:solidFill>
              <a:latin typeface="HGP教科書体" pitchFamily="18" charset="-128"/>
              <a:ea typeface="HGP教科書体" pitchFamily="18" charset="-128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26473" y="1043608"/>
            <a:ext cx="634288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ja-JP" sz="1600" dirty="0" smtClean="0">
                <a:latin typeface="HGP教科書体" pitchFamily="18" charset="-128"/>
                <a:ea typeface="HGP教科書体" pitchFamily="18" charset="-128"/>
              </a:rPr>
              <a:t>韓国レストランで韓国料理研究家に学ぶ韓食文化体験</a:t>
            </a:r>
            <a:endParaRPr lang="en-US" altLang="ja-JP" sz="1600" dirty="0" smtClean="0">
              <a:latin typeface="HGP教科書体" pitchFamily="18" charset="-128"/>
              <a:ea typeface="HGP教科書体" pitchFamily="18" charset="-128"/>
            </a:endParaRPr>
          </a:p>
          <a:p>
            <a:pPr algn="ctr"/>
            <a:endParaRPr lang="en-US" altLang="ja-JP" sz="1600" b="1" dirty="0" smtClean="0">
              <a:latin typeface="HGP教科書体" pitchFamily="18" charset="-128"/>
              <a:ea typeface="HGP教科書体" pitchFamily="18" charset="-128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73216" y="8316416"/>
            <a:ext cx="11881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2F6212C-4B87-496A-AC2E-DBBA9F35BC46}" type="slidenum">
              <a:rPr lang="en-US" altLang="ko-KR" sz="800" spc="-30" smtClean="0">
                <a:solidFill>
                  <a:schemeClr val="bg2">
                    <a:lumMod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</a:t>
            </a:fld>
            <a:endParaRPr lang="en-US" altLang="ko-KR" sz="800" spc="-30" dirty="0">
              <a:solidFill>
                <a:schemeClr val="bg2">
                  <a:lumMod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4" name="직사각형 9"/>
          <p:cNvSpPr/>
          <p:nvPr/>
        </p:nvSpPr>
        <p:spPr>
          <a:xfrm>
            <a:off x="1052736" y="509935"/>
            <a:ext cx="51845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 b="1" dirty="0" smtClean="0">
                <a:solidFill>
                  <a:schemeClr val="bg2">
                    <a:lumMod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「</a:t>
            </a:r>
            <a:r>
              <a:rPr lang="en-US" altLang="ja-JP" sz="2400" b="1" dirty="0" smtClean="0">
                <a:solidFill>
                  <a:schemeClr val="bg2">
                    <a:lumMod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5tion</a:t>
            </a:r>
            <a:r>
              <a:rPr lang="ja-JP" altLang="en-US" sz="2400" b="1" dirty="0" smtClean="0">
                <a:solidFill>
                  <a:schemeClr val="bg2">
                    <a:lumMod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と作るキムチ料理教室</a:t>
            </a:r>
            <a:r>
              <a:rPr lang="ja-JP" altLang="en-US" sz="2400" b="1" dirty="0">
                <a:solidFill>
                  <a:schemeClr val="bg2">
                    <a:lumMod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」</a:t>
            </a:r>
            <a:endParaRPr lang="en-US" altLang="ja-JP" sz="2000" b="1" dirty="0" smtClean="0">
              <a:solidFill>
                <a:schemeClr val="bg2">
                  <a:lumMod val="2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240" y="8244408"/>
            <a:ext cx="1123950" cy="533400"/>
          </a:xfrm>
          <a:prstGeom prst="rect">
            <a:avLst/>
          </a:prstGeom>
          <a:noFill/>
          <a:ln>
            <a:noFill/>
          </a:ln>
          <a:effectLst>
            <a:reflection blurRad="6350" stA="50000" endA="300" endPos="5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7352" y="8604448"/>
            <a:ext cx="224489" cy="298029"/>
          </a:xfrm>
          <a:prstGeom prst="rect">
            <a:avLst/>
          </a:prstGeom>
          <a:noFill/>
          <a:ln>
            <a:noFill/>
          </a:ln>
          <a:effectLst>
            <a:reflection blurRad="6350" stA="50000" endA="300" endPos="5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그림 8" descr="korean frame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 rot="5400000">
            <a:off x="3213850" y="-769225"/>
            <a:ext cx="531628" cy="4795216"/>
          </a:xfrm>
          <a:prstGeom prst="rect">
            <a:avLst/>
          </a:prstGeom>
        </p:spPr>
      </p:pic>
      <p:sp>
        <p:nvSpPr>
          <p:cNvPr id="20" name="AutoShape 46"/>
          <p:cNvSpPr>
            <a:spLocks noChangeArrowheads="1"/>
          </p:cNvSpPr>
          <p:nvPr/>
        </p:nvSpPr>
        <p:spPr bwMode="auto">
          <a:xfrm>
            <a:off x="264398" y="1907704"/>
            <a:ext cx="6445198" cy="1835692"/>
          </a:xfrm>
          <a:prstGeom prst="flowChartAlternateProcess">
            <a:avLst/>
          </a:prstGeom>
          <a:noFill/>
          <a:ln w="38100" cmpd="dbl">
            <a:solidFill>
              <a:srgbClr val="99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ja-JP" altLang="en-US">
              <a:ea typeface="ＭＳ Ｐゴシック" pitchFamily="50" charset="-128"/>
            </a:endParaRPr>
          </a:p>
        </p:txBody>
      </p:sp>
      <p:pic>
        <p:nvPicPr>
          <p:cNvPr id="23" name="그림 14" descr="번짐4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54465" y="3779912"/>
            <a:ext cx="1302327" cy="714374"/>
          </a:xfrm>
          <a:prstGeom prst="rect">
            <a:avLst/>
          </a:prstGeom>
        </p:spPr>
      </p:pic>
      <p:sp>
        <p:nvSpPr>
          <p:cNvPr id="25" name="직사각형 9"/>
          <p:cNvSpPr/>
          <p:nvPr/>
        </p:nvSpPr>
        <p:spPr>
          <a:xfrm>
            <a:off x="332656" y="3923928"/>
            <a:ext cx="10801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b="1" dirty="0" smtClean="0">
                <a:solidFill>
                  <a:schemeClr val="bg2">
                    <a:lumMod val="25000"/>
                  </a:schemeClr>
                </a:solidFill>
                <a:latin typeface="HGP教科書体" pitchFamily="18" charset="-128"/>
                <a:ea typeface="HGP教科書体" pitchFamily="18" charset="-128"/>
              </a:rPr>
              <a:t>開催</a:t>
            </a:r>
            <a:r>
              <a:rPr lang="ja-JP" altLang="en-US" b="1" dirty="0">
                <a:solidFill>
                  <a:schemeClr val="bg2">
                    <a:lumMod val="25000"/>
                  </a:schemeClr>
                </a:solidFill>
                <a:latin typeface="HGP教科書体" pitchFamily="18" charset="-128"/>
                <a:ea typeface="HGP教科書体" pitchFamily="18" charset="-128"/>
              </a:rPr>
              <a:t>日</a:t>
            </a:r>
            <a:endParaRPr lang="en-US" altLang="ko-KR" b="1" dirty="0" smtClean="0">
              <a:solidFill>
                <a:schemeClr val="bg2">
                  <a:lumMod val="25000"/>
                </a:schemeClr>
              </a:solidFill>
              <a:latin typeface="HGP教科書体" pitchFamily="18" charset="-128"/>
              <a:ea typeface="HGP教科書体" pitchFamily="18" charset="-128"/>
            </a:endParaRPr>
          </a:p>
        </p:txBody>
      </p:sp>
      <p:sp>
        <p:nvSpPr>
          <p:cNvPr id="27" name="직사각형 9"/>
          <p:cNvSpPr/>
          <p:nvPr/>
        </p:nvSpPr>
        <p:spPr>
          <a:xfrm>
            <a:off x="1412776" y="3923928"/>
            <a:ext cx="33123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b="1" dirty="0" smtClean="0">
                <a:solidFill>
                  <a:schemeClr val="bg2">
                    <a:lumMod val="25000"/>
                  </a:schemeClr>
                </a:solidFill>
                <a:latin typeface="HGP教科書体" pitchFamily="18" charset="-128"/>
                <a:ea typeface="HGP教科書体" pitchFamily="18" charset="-128"/>
              </a:rPr>
              <a:t>２０１３年１</a:t>
            </a:r>
            <a:r>
              <a:rPr lang="en-US" altLang="ja-JP" b="1" dirty="0" smtClean="0">
                <a:solidFill>
                  <a:schemeClr val="bg2">
                    <a:lumMod val="25000"/>
                  </a:schemeClr>
                </a:solidFill>
                <a:latin typeface="HGP教科書体" pitchFamily="18" charset="-128"/>
                <a:ea typeface="HGP教科書体" pitchFamily="18" charset="-128"/>
              </a:rPr>
              <a:t>1</a:t>
            </a:r>
            <a:r>
              <a:rPr lang="ja-JP" altLang="en-US" b="1" dirty="0" smtClean="0">
                <a:solidFill>
                  <a:schemeClr val="bg2">
                    <a:lumMod val="25000"/>
                  </a:schemeClr>
                </a:solidFill>
                <a:latin typeface="HGP教科書体" pitchFamily="18" charset="-128"/>
                <a:ea typeface="HGP教科書体" pitchFamily="18" charset="-128"/>
              </a:rPr>
              <a:t>月　</a:t>
            </a:r>
            <a:r>
              <a:rPr lang="en-US" altLang="ja-JP" b="1" dirty="0" smtClean="0">
                <a:solidFill>
                  <a:schemeClr val="bg2">
                    <a:lumMod val="25000"/>
                  </a:schemeClr>
                </a:solidFill>
                <a:latin typeface="HGP教科書体" pitchFamily="18" charset="-128"/>
                <a:ea typeface="HGP教科書体" pitchFamily="18" charset="-128"/>
              </a:rPr>
              <a:t>3</a:t>
            </a:r>
            <a:r>
              <a:rPr lang="ja-JP" altLang="en-US" b="1" dirty="0" smtClean="0">
                <a:solidFill>
                  <a:schemeClr val="bg2">
                    <a:lumMod val="25000"/>
                  </a:schemeClr>
                </a:solidFill>
                <a:latin typeface="HGP教科書体" pitchFamily="18" charset="-128"/>
                <a:ea typeface="HGP教科書体" pitchFamily="18" charset="-128"/>
              </a:rPr>
              <a:t>日（日曜日）</a:t>
            </a:r>
            <a:endParaRPr lang="en-US" altLang="ko-KR" b="1" dirty="0" smtClean="0">
              <a:solidFill>
                <a:schemeClr val="bg2">
                  <a:lumMod val="25000"/>
                </a:schemeClr>
              </a:solidFill>
              <a:latin typeface="HGP教科書体" pitchFamily="18" charset="-128"/>
              <a:ea typeface="HGP教科書体" pitchFamily="18" charset="-128"/>
            </a:endParaRPr>
          </a:p>
        </p:txBody>
      </p:sp>
      <p:pic>
        <p:nvPicPr>
          <p:cNvPr id="28" name="그림 14" descr="번짐4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64398" y="4283968"/>
            <a:ext cx="1232600" cy="676126"/>
          </a:xfrm>
          <a:prstGeom prst="rect">
            <a:avLst/>
          </a:prstGeom>
        </p:spPr>
      </p:pic>
      <p:sp>
        <p:nvSpPr>
          <p:cNvPr id="29" name="직사각형 9"/>
          <p:cNvSpPr/>
          <p:nvPr/>
        </p:nvSpPr>
        <p:spPr>
          <a:xfrm>
            <a:off x="332656" y="4355976"/>
            <a:ext cx="10801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b="1" dirty="0" smtClean="0">
                <a:solidFill>
                  <a:schemeClr val="bg2">
                    <a:lumMod val="25000"/>
                  </a:schemeClr>
                </a:solidFill>
                <a:latin typeface="HGP教科書体" pitchFamily="18" charset="-128"/>
                <a:ea typeface="HGP教科書体" pitchFamily="18" charset="-128"/>
              </a:rPr>
              <a:t>時　間</a:t>
            </a:r>
            <a:endParaRPr lang="en-US" altLang="ko-KR" b="1" dirty="0" smtClean="0">
              <a:solidFill>
                <a:schemeClr val="bg2">
                  <a:lumMod val="25000"/>
                </a:schemeClr>
              </a:solidFill>
              <a:latin typeface="HGP教科書体" pitchFamily="18" charset="-128"/>
              <a:ea typeface="HGP教科書体" pitchFamily="18" charset="-128"/>
            </a:endParaRPr>
          </a:p>
        </p:txBody>
      </p:sp>
      <p:sp>
        <p:nvSpPr>
          <p:cNvPr id="30" name="직사각형 9"/>
          <p:cNvSpPr/>
          <p:nvPr/>
        </p:nvSpPr>
        <p:spPr>
          <a:xfrm>
            <a:off x="1340768" y="4427984"/>
            <a:ext cx="33123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b="1" dirty="0" smtClean="0">
                <a:solidFill>
                  <a:schemeClr val="bg2">
                    <a:lumMod val="25000"/>
                  </a:schemeClr>
                </a:solidFill>
                <a:latin typeface="HGP教科書体" pitchFamily="18" charset="-128"/>
                <a:ea typeface="HGP教科書体" pitchFamily="18" charset="-128"/>
              </a:rPr>
              <a:t>15</a:t>
            </a:r>
            <a:r>
              <a:rPr lang="ja-JP" altLang="en-US" b="1" dirty="0" smtClean="0">
                <a:solidFill>
                  <a:schemeClr val="bg2">
                    <a:lumMod val="25000"/>
                  </a:schemeClr>
                </a:solidFill>
                <a:latin typeface="HGP教科書体" pitchFamily="18" charset="-128"/>
                <a:ea typeface="HGP教科書体" pitchFamily="18" charset="-128"/>
              </a:rPr>
              <a:t>：</a:t>
            </a:r>
            <a:r>
              <a:rPr lang="en-US" altLang="ja-JP" b="1" dirty="0">
                <a:solidFill>
                  <a:schemeClr val="bg2">
                    <a:lumMod val="25000"/>
                  </a:schemeClr>
                </a:solidFill>
                <a:latin typeface="HGP教科書体" pitchFamily="18" charset="-128"/>
                <a:ea typeface="HGP教科書体" pitchFamily="18" charset="-128"/>
              </a:rPr>
              <a:t>0</a:t>
            </a:r>
            <a:r>
              <a:rPr lang="en-US" altLang="ja-JP" b="1" dirty="0" smtClean="0">
                <a:solidFill>
                  <a:schemeClr val="bg2">
                    <a:lumMod val="25000"/>
                  </a:schemeClr>
                </a:solidFill>
                <a:latin typeface="HGP教科書体" pitchFamily="18" charset="-128"/>
                <a:ea typeface="HGP教科書体" pitchFamily="18" charset="-128"/>
              </a:rPr>
              <a:t>0</a:t>
            </a:r>
            <a:r>
              <a:rPr lang="ja-JP" altLang="en-US" b="1" dirty="0" smtClean="0">
                <a:solidFill>
                  <a:schemeClr val="bg2">
                    <a:lumMod val="25000"/>
                  </a:schemeClr>
                </a:solidFill>
                <a:latin typeface="HGP教科書体" pitchFamily="18" charset="-128"/>
                <a:ea typeface="HGP教科書体" pitchFamily="18" charset="-128"/>
              </a:rPr>
              <a:t>～</a:t>
            </a:r>
            <a:r>
              <a:rPr lang="en-US" altLang="ja-JP" b="1" dirty="0" smtClean="0">
                <a:solidFill>
                  <a:schemeClr val="bg2">
                    <a:lumMod val="25000"/>
                  </a:schemeClr>
                </a:solidFill>
                <a:latin typeface="HGP教科書体" pitchFamily="18" charset="-128"/>
                <a:ea typeface="HGP教科書体" pitchFamily="18" charset="-128"/>
              </a:rPr>
              <a:t>16</a:t>
            </a:r>
            <a:r>
              <a:rPr lang="ja-JP" altLang="en-US" b="1" dirty="0" smtClean="0">
                <a:solidFill>
                  <a:schemeClr val="bg2">
                    <a:lumMod val="25000"/>
                  </a:schemeClr>
                </a:solidFill>
                <a:latin typeface="HGP教科書体" pitchFamily="18" charset="-128"/>
                <a:ea typeface="HGP教科書体" pitchFamily="18" charset="-128"/>
              </a:rPr>
              <a:t>：</a:t>
            </a:r>
            <a:r>
              <a:rPr lang="en-US" altLang="ja-JP" b="1" dirty="0">
                <a:solidFill>
                  <a:schemeClr val="bg2">
                    <a:lumMod val="25000"/>
                  </a:schemeClr>
                </a:solidFill>
                <a:latin typeface="HGP教科書体" pitchFamily="18" charset="-128"/>
                <a:ea typeface="HGP教科書体" pitchFamily="18" charset="-128"/>
              </a:rPr>
              <a:t>3</a:t>
            </a:r>
            <a:r>
              <a:rPr lang="en-US" altLang="ja-JP" b="1" dirty="0" smtClean="0">
                <a:solidFill>
                  <a:schemeClr val="bg2">
                    <a:lumMod val="25000"/>
                  </a:schemeClr>
                </a:solidFill>
                <a:latin typeface="HGP教科書体" pitchFamily="18" charset="-128"/>
                <a:ea typeface="HGP教科書体" pitchFamily="18" charset="-128"/>
              </a:rPr>
              <a:t>0</a:t>
            </a:r>
            <a:r>
              <a:rPr lang="ja-JP" altLang="en-US" b="1" dirty="0" smtClean="0">
                <a:solidFill>
                  <a:schemeClr val="bg2">
                    <a:lumMod val="25000"/>
                  </a:schemeClr>
                </a:solidFill>
                <a:latin typeface="HGP教科書体" pitchFamily="18" charset="-128"/>
                <a:ea typeface="HGP教科書体" pitchFamily="18" charset="-128"/>
              </a:rPr>
              <a:t>（受付</a:t>
            </a:r>
            <a:r>
              <a:rPr lang="en-US" altLang="ja-JP" b="1" dirty="0">
                <a:solidFill>
                  <a:schemeClr val="bg2">
                    <a:lumMod val="25000"/>
                  </a:schemeClr>
                </a:solidFill>
                <a:latin typeface="HGP教科書体" pitchFamily="18" charset="-128"/>
                <a:ea typeface="HGP教科書体" pitchFamily="18" charset="-128"/>
              </a:rPr>
              <a:t>14</a:t>
            </a:r>
            <a:r>
              <a:rPr lang="ja-JP" altLang="en-US" b="1" dirty="0" smtClean="0">
                <a:solidFill>
                  <a:schemeClr val="bg2">
                    <a:lumMod val="25000"/>
                  </a:schemeClr>
                </a:solidFill>
                <a:latin typeface="HGP教科書体" pitchFamily="18" charset="-128"/>
                <a:ea typeface="HGP教科書体" pitchFamily="18" charset="-128"/>
              </a:rPr>
              <a:t>：</a:t>
            </a:r>
            <a:r>
              <a:rPr lang="en-US" altLang="ja-JP" b="1" dirty="0">
                <a:solidFill>
                  <a:schemeClr val="bg2">
                    <a:lumMod val="25000"/>
                  </a:schemeClr>
                </a:solidFill>
                <a:latin typeface="HGP教科書体" pitchFamily="18" charset="-128"/>
                <a:ea typeface="HGP教科書体" pitchFamily="18" charset="-128"/>
              </a:rPr>
              <a:t>4</a:t>
            </a:r>
            <a:r>
              <a:rPr lang="en-US" altLang="ja-JP" b="1" dirty="0" smtClean="0">
                <a:solidFill>
                  <a:schemeClr val="bg2">
                    <a:lumMod val="25000"/>
                  </a:schemeClr>
                </a:solidFill>
                <a:latin typeface="HGP教科書体" pitchFamily="18" charset="-128"/>
                <a:ea typeface="HGP教科書体" pitchFamily="18" charset="-128"/>
              </a:rPr>
              <a:t>5</a:t>
            </a:r>
            <a:r>
              <a:rPr lang="ja-JP" altLang="en-US" b="1" dirty="0" smtClean="0">
                <a:solidFill>
                  <a:schemeClr val="bg2">
                    <a:lumMod val="25000"/>
                  </a:schemeClr>
                </a:solidFill>
                <a:latin typeface="HGP教科書体" pitchFamily="18" charset="-128"/>
                <a:ea typeface="HGP教科書体" pitchFamily="18" charset="-128"/>
              </a:rPr>
              <a:t>～）</a:t>
            </a:r>
            <a:endParaRPr lang="en-US" altLang="ko-KR" b="1" dirty="0" smtClean="0">
              <a:solidFill>
                <a:schemeClr val="bg2">
                  <a:lumMod val="25000"/>
                </a:schemeClr>
              </a:solidFill>
              <a:latin typeface="HGP教科書体" pitchFamily="18" charset="-128"/>
              <a:ea typeface="HGP教科書体" pitchFamily="18" charset="-128"/>
            </a:endParaRPr>
          </a:p>
        </p:txBody>
      </p:sp>
      <p:pic>
        <p:nvPicPr>
          <p:cNvPr id="31" name="그림 14" descr="번짐4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54465" y="4860032"/>
            <a:ext cx="1230319" cy="674875"/>
          </a:xfrm>
          <a:prstGeom prst="rect">
            <a:avLst/>
          </a:prstGeom>
        </p:spPr>
      </p:pic>
      <p:sp>
        <p:nvSpPr>
          <p:cNvPr id="32" name="직사각형 9"/>
          <p:cNvSpPr/>
          <p:nvPr/>
        </p:nvSpPr>
        <p:spPr>
          <a:xfrm>
            <a:off x="332656" y="4932040"/>
            <a:ext cx="10801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b="1" dirty="0" smtClean="0">
                <a:solidFill>
                  <a:schemeClr val="bg2">
                    <a:lumMod val="25000"/>
                  </a:schemeClr>
                </a:solidFill>
                <a:latin typeface="HGP教科書体" pitchFamily="18" charset="-128"/>
                <a:ea typeface="HGP教科書体" pitchFamily="18" charset="-128"/>
              </a:rPr>
              <a:t>場　所</a:t>
            </a:r>
            <a:endParaRPr lang="en-US" altLang="ko-KR" b="1" dirty="0" smtClean="0">
              <a:solidFill>
                <a:schemeClr val="bg2">
                  <a:lumMod val="25000"/>
                </a:schemeClr>
              </a:solidFill>
              <a:latin typeface="HGP教科書体" pitchFamily="18" charset="-128"/>
              <a:ea typeface="HGP教科書体" pitchFamily="18" charset="-128"/>
            </a:endParaRPr>
          </a:p>
        </p:txBody>
      </p:sp>
      <p:sp>
        <p:nvSpPr>
          <p:cNvPr id="33" name="직사각형 9"/>
          <p:cNvSpPr/>
          <p:nvPr/>
        </p:nvSpPr>
        <p:spPr>
          <a:xfrm>
            <a:off x="1340768" y="4842029"/>
            <a:ext cx="331236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ja-JP" altLang="en-US" sz="1400" b="1" dirty="0" smtClean="0">
                <a:solidFill>
                  <a:srgbClr val="35250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GP教科書体" pitchFamily="18" charset="-128"/>
                <a:ea typeface="HGP教科書体" pitchFamily="18" charset="-128"/>
              </a:rPr>
              <a:t>韓国レストラン</a:t>
            </a:r>
            <a:r>
              <a:rPr lang="ja-JP" altLang="en-US" sz="2400" b="1" dirty="0" smtClean="0">
                <a:solidFill>
                  <a:srgbClr val="35250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GP教科書体" pitchFamily="18" charset="-128"/>
                <a:ea typeface="HGP教科書体" pitchFamily="18" charset="-128"/>
              </a:rPr>
              <a:t>大使館</a:t>
            </a:r>
            <a:endParaRPr lang="en-US" altLang="ja-JP" sz="2400" b="1" dirty="0" smtClean="0">
              <a:solidFill>
                <a:srgbClr val="35250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HGP教科書体" pitchFamily="18" charset="-128"/>
              <a:ea typeface="HGP教科書体" pitchFamily="18" charset="-128"/>
            </a:endParaRPr>
          </a:p>
          <a:p>
            <a:pPr>
              <a:defRPr/>
            </a:pPr>
            <a:r>
              <a:rPr lang="ja-JP" altLang="en-US" b="1" dirty="0" smtClean="0">
                <a:solidFill>
                  <a:srgbClr val="35250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GP教科書体" pitchFamily="18" charset="-128"/>
                <a:ea typeface="HGP教科書体" pitchFamily="18" charset="-128"/>
              </a:rPr>
              <a:t>新宿区大久保</a:t>
            </a:r>
            <a:r>
              <a:rPr lang="en-US" altLang="ja-JP" b="1" dirty="0" smtClean="0">
                <a:solidFill>
                  <a:srgbClr val="35250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GP教科書体" pitchFamily="18" charset="-128"/>
                <a:ea typeface="HGP教科書体" pitchFamily="18" charset="-128"/>
              </a:rPr>
              <a:t>1-17-10</a:t>
            </a:r>
            <a:endParaRPr lang="ja-JP" altLang="en-US" b="1" dirty="0">
              <a:solidFill>
                <a:srgbClr val="35250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HGP教科書体" pitchFamily="18" charset="-128"/>
              <a:ea typeface="HGP教科書体" pitchFamily="18" charset="-128"/>
            </a:endParaRPr>
          </a:p>
          <a:p>
            <a:pPr>
              <a:defRPr/>
            </a:pPr>
            <a:r>
              <a:rPr lang="en-US" altLang="ja-JP" sz="1400" b="1" dirty="0" smtClean="0">
                <a:solidFill>
                  <a:srgbClr val="35250D"/>
                </a:solidFill>
                <a:latin typeface="HGP教科書体" pitchFamily="18" charset="-128"/>
                <a:ea typeface="HGP教科書体" pitchFamily="18" charset="-128"/>
              </a:rPr>
              <a:t>TEL</a:t>
            </a:r>
            <a:r>
              <a:rPr lang="ja-JP" altLang="en-US" sz="1400" b="1" dirty="0">
                <a:solidFill>
                  <a:srgbClr val="35250D"/>
                </a:solidFill>
                <a:latin typeface="HGP教科書体" pitchFamily="18" charset="-128"/>
                <a:ea typeface="HGP教科書体" pitchFamily="18" charset="-128"/>
              </a:rPr>
              <a:t>　</a:t>
            </a:r>
            <a:r>
              <a:rPr lang="en-US" altLang="ja-JP" sz="1400" b="1" dirty="0" smtClean="0">
                <a:solidFill>
                  <a:srgbClr val="35250D"/>
                </a:solidFill>
                <a:latin typeface="HGP教科書体" pitchFamily="18" charset="-128"/>
                <a:ea typeface="HGP教科書体" pitchFamily="18" charset="-128"/>
              </a:rPr>
              <a:t>03-3232-1139</a:t>
            </a:r>
            <a:endParaRPr lang="en-US" altLang="ja-JP" sz="1400" b="1" dirty="0">
              <a:solidFill>
                <a:srgbClr val="35250D"/>
              </a:solidFill>
              <a:latin typeface="HGP教科書体" pitchFamily="18" charset="-128"/>
              <a:ea typeface="HGP教科書体" pitchFamily="18" charset="-128"/>
            </a:endParaRPr>
          </a:p>
        </p:txBody>
      </p:sp>
      <p:pic>
        <p:nvPicPr>
          <p:cNvPr id="34" name="그림 14" descr="번짐4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60649" y="5700717"/>
            <a:ext cx="1224136" cy="671483"/>
          </a:xfrm>
          <a:prstGeom prst="rect">
            <a:avLst/>
          </a:prstGeom>
        </p:spPr>
      </p:pic>
      <p:sp>
        <p:nvSpPr>
          <p:cNvPr id="35" name="직사각형 9"/>
          <p:cNvSpPr/>
          <p:nvPr/>
        </p:nvSpPr>
        <p:spPr>
          <a:xfrm>
            <a:off x="332656" y="5796136"/>
            <a:ext cx="10801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b="1" dirty="0">
                <a:solidFill>
                  <a:schemeClr val="bg2">
                    <a:lumMod val="25000"/>
                  </a:schemeClr>
                </a:solidFill>
                <a:latin typeface="HGP教科書体" pitchFamily="18" charset="-128"/>
                <a:ea typeface="HGP教科書体" pitchFamily="18" charset="-128"/>
              </a:rPr>
              <a:t>参加費</a:t>
            </a:r>
            <a:endParaRPr lang="en-US" altLang="ko-KR" b="1" dirty="0" smtClean="0">
              <a:solidFill>
                <a:schemeClr val="bg2">
                  <a:lumMod val="25000"/>
                </a:schemeClr>
              </a:solidFill>
              <a:latin typeface="HGP教科書体" pitchFamily="18" charset="-128"/>
              <a:ea typeface="HGP教科書体" pitchFamily="18" charset="-128"/>
            </a:endParaRPr>
          </a:p>
        </p:txBody>
      </p:sp>
      <p:sp>
        <p:nvSpPr>
          <p:cNvPr id="36" name="正方形/長方形 35"/>
          <p:cNvSpPr/>
          <p:nvPr/>
        </p:nvSpPr>
        <p:spPr>
          <a:xfrm>
            <a:off x="1268760" y="5796136"/>
            <a:ext cx="473559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ja-JP" b="1" dirty="0">
                <a:solidFill>
                  <a:srgbClr val="35250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G教科書体" pitchFamily="17" charset="-128"/>
                <a:ea typeface="HG教科書体" pitchFamily="17" charset="-128"/>
              </a:rPr>
              <a:t>6,000</a:t>
            </a:r>
            <a:r>
              <a:rPr lang="ja-JP" altLang="en-US" b="1" dirty="0" smtClean="0">
                <a:solidFill>
                  <a:srgbClr val="35250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G教科書体" pitchFamily="17" charset="-128"/>
                <a:ea typeface="HG教科書体" pitchFamily="17" charset="-128"/>
              </a:rPr>
              <a:t>円</a:t>
            </a:r>
            <a:r>
              <a:rPr lang="ja-JP" altLang="en-US" sz="1400" dirty="0">
                <a:solidFill>
                  <a:srgbClr val="35250D"/>
                </a:solidFill>
                <a:effectLst/>
                <a:latin typeface="HG教科書体" pitchFamily="17" charset="-128"/>
                <a:ea typeface="HG教科書体" pitchFamily="17" charset="-128"/>
              </a:rPr>
              <a:t>（</a:t>
            </a:r>
            <a:r>
              <a:rPr lang="ja-JP" altLang="en-US" sz="1400" dirty="0" smtClean="0">
                <a:solidFill>
                  <a:srgbClr val="35250D"/>
                </a:solidFill>
                <a:effectLst/>
                <a:latin typeface="HG教科書体" pitchFamily="17" charset="-128"/>
                <a:ea typeface="HG教科書体" pitchFamily="17" charset="-128"/>
              </a:rPr>
              <a:t>材料費込み、キムチ</a:t>
            </a:r>
            <a:r>
              <a:rPr lang="en-US" altLang="ja-JP" sz="1400" dirty="0" smtClean="0">
                <a:solidFill>
                  <a:srgbClr val="35250D"/>
                </a:solidFill>
                <a:effectLst/>
                <a:latin typeface="HG教科書体" pitchFamily="17" charset="-128"/>
                <a:ea typeface="HG教科書体" pitchFamily="17" charset="-128"/>
              </a:rPr>
              <a:t>1/4</a:t>
            </a:r>
            <a:r>
              <a:rPr lang="ja-JP" altLang="en-US" sz="1400" dirty="0" smtClean="0">
                <a:solidFill>
                  <a:srgbClr val="35250D"/>
                </a:solidFill>
                <a:effectLst/>
                <a:latin typeface="HG教科書体" pitchFamily="17" charset="-128"/>
                <a:ea typeface="HG教科書体" pitchFamily="17" charset="-128"/>
              </a:rPr>
              <a:t>個お持ち帰り付き</a:t>
            </a:r>
            <a:r>
              <a:rPr lang="ja-JP" altLang="en-US" sz="1400" dirty="0" smtClean="0">
                <a:solidFill>
                  <a:srgbClr val="35250D"/>
                </a:solidFill>
                <a:effectLst/>
                <a:latin typeface="HG教科書体" pitchFamily="17" charset="-128"/>
                <a:ea typeface="HG教科書体" pitchFamily="17" charset="-128"/>
              </a:rPr>
              <a:t>）</a:t>
            </a:r>
            <a:endParaRPr lang="en-US" altLang="ja-JP" sz="1400" dirty="0" smtClean="0">
              <a:solidFill>
                <a:srgbClr val="35250D"/>
              </a:solidFill>
              <a:effectLst/>
              <a:latin typeface="HG教科書体" pitchFamily="17" charset="-128"/>
              <a:ea typeface="HG教科書体" pitchFamily="17" charset="-128"/>
            </a:endParaRPr>
          </a:p>
          <a:p>
            <a:pPr>
              <a:defRPr/>
            </a:pPr>
            <a:r>
              <a:rPr lang="ja-JP" altLang="en-US" dirty="0" smtClean="0">
                <a:latin typeface="HG教科書体" pitchFamily="17" charset="-128"/>
                <a:ea typeface="HG教科書体" pitchFamily="17" charset="-128"/>
              </a:rPr>
              <a:t>　　　　</a:t>
            </a:r>
            <a:r>
              <a:rPr lang="en-US" altLang="ja-JP" sz="1400" b="1" dirty="0" smtClean="0">
                <a:latin typeface="HG教科書体" pitchFamily="17" charset="-128"/>
                <a:ea typeface="HG教科書体" pitchFamily="17" charset="-128"/>
              </a:rPr>
              <a:t>(</a:t>
            </a:r>
            <a:r>
              <a:rPr lang="ja-JP" altLang="en-US" sz="1400" b="1" dirty="0" smtClean="0">
                <a:latin typeface="HG教科書体" pitchFamily="17" charset="-128"/>
                <a:ea typeface="HG教科書体" pitchFamily="17" charset="-128"/>
              </a:rPr>
              <a:t>追加で</a:t>
            </a:r>
            <a:r>
              <a:rPr lang="en-US" altLang="ja-JP" sz="1400" b="1" dirty="0" smtClean="0">
                <a:solidFill>
                  <a:schemeClr val="bg2">
                    <a:lumMod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5tion</a:t>
            </a:r>
            <a:r>
              <a:rPr lang="ja-JP" altLang="en-US" sz="1400" b="1" dirty="0" smtClean="0">
                <a:solidFill>
                  <a:schemeClr val="bg2">
                    <a:lumMod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が作ったキムチ購入可能）</a:t>
            </a:r>
            <a:r>
              <a:rPr lang="ja-JP" altLang="en-US" sz="1400" dirty="0" smtClean="0">
                <a:latin typeface="HG教科書体" pitchFamily="17" charset="-128"/>
                <a:ea typeface="HG教科書体" pitchFamily="17" charset="-128"/>
              </a:rPr>
              <a:t>　</a:t>
            </a:r>
            <a:endParaRPr lang="ja-JP" altLang="en-US" sz="1400" dirty="0">
              <a:latin typeface="HG教科書体" pitchFamily="17" charset="-128"/>
              <a:ea typeface="HG教科書体" pitchFamily="17" charset="-128"/>
            </a:endParaRPr>
          </a:p>
        </p:txBody>
      </p:sp>
      <p:pic>
        <p:nvPicPr>
          <p:cNvPr id="37" name="그림 14" descr="번짐4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60648" y="6300192"/>
            <a:ext cx="1224136" cy="671484"/>
          </a:xfrm>
          <a:prstGeom prst="rect">
            <a:avLst/>
          </a:prstGeom>
        </p:spPr>
      </p:pic>
      <p:sp>
        <p:nvSpPr>
          <p:cNvPr id="38" name="직사각형 9"/>
          <p:cNvSpPr/>
          <p:nvPr/>
        </p:nvSpPr>
        <p:spPr>
          <a:xfrm>
            <a:off x="332656" y="6434916"/>
            <a:ext cx="10801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b="1" dirty="0" smtClean="0">
                <a:solidFill>
                  <a:schemeClr val="bg2">
                    <a:lumMod val="25000"/>
                  </a:schemeClr>
                </a:solidFill>
                <a:latin typeface="HGP教科書体" pitchFamily="18" charset="-128"/>
                <a:ea typeface="HGP教科書体" pitchFamily="18" charset="-128"/>
              </a:rPr>
              <a:t>定　員</a:t>
            </a:r>
            <a:endParaRPr lang="en-US" altLang="ko-KR" b="1" dirty="0" smtClean="0">
              <a:solidFill>
                <a:schemeClr val="bg2">
                  <a:lumMod val="25000"/>
                </a:schemeClr>
              </a:solidFill>
              <a:latin typeface="HGP教科書体" pitchFamily="18" charset="-128"/>
              <a:ea typeface="HGP教科書体" pitchFamily="18" charset="-128"/>
            </a:endParaRPr>
          </a:p>
        </p:txBody>
      </p:sp>
      <p:sp>
        <p:nvSpPr>
          <p:cNvPr id="39" name="正方形/長方形 38"/>
          <p:cNvSpPr/>
          <p:nvPr/>
        </p:nvSpPr>
        <p:spPr>
          <a:xfrm>
            <a:off x="1337269" y="6372200"/>
            <a:ext cx="20361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ja-JP" altLang="en-US" b="1" dirty="0">
                <a:solidFill>
                  <a:srgbClr val="35250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G教科書体" pitchFamily="17" charset="-128"/>
                <a:ea typeface="HG教科書体" pitchFamily="17" charset="-128"/>
              </a:rPr>
              <a:t>　</a:t>
            </a:r>
            <a:r>
              <a:rPr lang="ja-JP" altLang="en-US" b="1" dirty="0" smtClean="0">
                <a:solidFill>
                  <a:srgbClr val="35250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G教科書体" pitchFamily="17" charset="-128"/>
                <a:ea typeface="HG教科書体" pitchFamily="17" charset="-128"/>
              </a:rPr>
              <a:t>　名</a:t>
            </a:r>
            <a:r>
              <a:rPr lang="ja-JP" altLang="en-US" dirty="0">
                <a:solidFill>
                  <a:srgbClr val="35250D"/>
                </a:solidFill>
                <a:effectLst/>
                <a:latin typeface="HG教科書体" pitchFamily="17" charset="-128"/>
                <a:ea typeface="HG教科書体" pitchFamily="17" charset="-128"/>
              </a:rPr>
              <a:t>（先着順）</a:t>
            </a:r>
            <a:endParaRPr lang="ja-JP" altLang="en-US" dirty="0">
              <a:latin typeface="HG教科書体" pitchFamily="17" charset="-128"/>
              <a:ea typeface="HG教科書体" pitchFamily="17" charset="-128"/>
            </a:endParaRPr>
          </a:p>
        </p:txBody>
      </p:sp>
      <p:sp>
        <p:nvSpPr>
          <p:cNvPr id="40" name="正方形/長方形 39"/>
          <p:cNvSpPr/>
          <p:nvPr/>
        </p:nvSpPr>
        <p:spPr>
          <a:xfrm>
            <a:off x="1343049" y="6676782"/>
            <a:ext cx="4750247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050" b="1" dirty="0">
                <a:solidFill>
                  <a:srgbClr val="35250D"/>
                </a:solidFill>
                <a:effectLst/>
                <a:latin typeface="HG教科書体" pitchFamily="17" charset="-128"/>
                <a:ea typeface="HG教科書体" pitchFamily="17" charset="-128"/>
              </a:rPr>
              <a:t>※</a:t>
            </a:r>
            <a:r>
              <a:rPr lang="ja-JP" altLang="en-US" sz="1050" b="1" dirty="0">
                <a:solidFill>
                  <a:srgbClr val="35250D"/>
                </a:solidFill>
                <a:effectLst/>
                <a:latin typeface="HG教科書体" pitchFamily="17" charset="-128"/>
                <a:ea typeface="HG教科書体" pitchFamily="17" charset="-128"/>
              </a:rPr>
              <a:t>定員になり次第締め切らせていただきます。ご了承ください。</a:t>
            </a:r>
          </a:p>
          <a:p>
            <a:pPr>
              <a:defRPr/>
            </a:pPr>
            <a:r>
              <a:rPr lang="en-US" altLang="ja-JP" sz="1050" b="1" dirty="0">
                <a:solidFill>
                  <a:srgbClr val="35250D"/>
                </a:solidFill>
                <a:effectLst/>
                <a:latin typeface="HG教科書体" pitchFamily="17" charset="-128"/>
                <a:ea typeface="HG教科書体" pitchFamily="17" charset="-128"/>
              </a:rPr>
              <a:t>※</a:t>
            </a:r>
            <a:r>
              <a:rPr lang="ja-JP" altLang="en-US" sz="1050" b="1" dirty="0">
                <a:solidFill>
                  <a:srgbClr val="35250D"/>
                </a:solidFill>
                <a:effectLst/>
                <a:latin typeface="HG教科書体" pitchFamily="17" charset="-128"/>
                <a:ea typeface="HG教科書体" pitchFamily="17" charset="-128"/>
              </a:rPr>
              <a:t>当日は、エプロン、お持ち帰り用のタッパーウェアをご持参ください。</a:t>
            </a:r>
            <a:endParaRPr lang="ja-JP" altLang="en-US" b="1" dirty="0">
              <a:latin typeface="HG教科書体" pitchFamily="17" charset="-128"/>
              <a:ea typeface="HG教科書体" pitchFamily="17" charset="-128"/>
            </a:endParaRPr>
          </a:p>
        </p:txBody>
      </p:sp>
      <p:pic>
        <p:nvPicPr>
          <p:cNvPr id="41" name="그림 14" descr="번짐4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60649" y="7020273"/>
            <a:ext cx="1181456" cy="648072"/>
          </a:xfrm>
          <a:prstGeom prst="rect">
            <a:avLst/>
          </a:prstGeom>
        </p:spPr>
      </p:pic>
      <p:sp>
        <p:nvSpPr>
          <p:cNvPr id="42" name="직사각형 9"/>
          <p:cNvSpPr/>
          <p:nvPr/>
        </p:nvSpPr>
        <p:spPr>
          <a:xfrm>
            <a:off x="260648" y="7113766"/>
            <a:ext cx="115212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1600" b="1" dirty="0" smtClean="0">
                <a:solidFill>
                  <a:schemeClr val="bg2">
                    <a:lumMod val="25000"/>
                  </a:schemeClr>
                </a:solidFill>
                <a:latin typeface="HGP教科書体" pitchFamily="18" charset="-128"/>
                <a:ea typeface="HGP教科書体" pitchFamily="18" charset="-128"/>
              </a:rPr>
              <a:t>申込方法</a:t>
            </a:r>
            <a:endParaRPr lang="en-US" altLang="ko-KR" sz="1600" b="1" dirty="0" smtClean="0">
              <a:solidFill>
                <a:schemeClr val="bg2">
                  <a:lumMod val="25000"/>
                </a:schemeClr>
              </a:solidFill>
              <a:latin typeface="HGP教科書体" pitchFamily="18" charset="-128"/>
              <a:ea typeface="HGP教科書体" pitchFamily="18" charset="-128"/>
            </a:endParaRPr>
          </a:p>
        </p:txBody>
      </p:sp>
      <p:sp>
        <p:nvSpPr>
          <p:cNvPr id="43" name="正方形/長方形 40"/>
          <p:cNvSpPr>
            <a:spLocks noChangeArrowheads="1"/>
          </p:cNvSpPr>
          <p:nvPr/>
        </p:nvSpPr>
        <p:spPr bwMode="auto">
          <a:xfrm>
            <a:off x="1340768" y="7092280"/>
            <a:ext cx="4643437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ja-JP" altLang="en-US" sz="1400" b="1" dirty="0" smtClean="0">
                <a:solidFill>
                  <a:srgbClr val="35250D"/>
                </a:solidFill>
                <a:latin typeface="HGS教科書体" pitchFamily="18" charset="-128"/>
                <a:ea typeface="HGS教科書体" pitchFamily="18" charset="-128"/>
              </a:rPr>
              <a:t>お電話、ファクス、</a:t>
            </a:r>
            <a:r>
              <a:rPr lang="ja-JP" altLang="en-US" sz="1400" b="1" dirty="0" smtClean="0">
                <a:solidFill>
                  <a:srgbClr val="35250D"/>
                </a:solidFill>
                <a:effectLst/>
                <a:latin typeface="HGS教科書体" pitchFamily="18" charset="-128"/>
                <a:ea typeface="HGS教科書体" pitchFamily="18" charset="-128"/>
              </a:rPr>
              <a:t>メール</a:t>
            </a:r>
            <a:r>
              <a:rPr lang="ja-JP" altLang="en-US" sz="1400" b="1" dirty="0">
                <a:solidFill>
                  <a:srgbClr val="35250D"/>
                </a:solidFill>
                <a:effectLst/>
                <a:latin typeface="HGS教科書体" pitchFamily="18" charset="-128"/>
                <a:ea typeface="HGS教科書体" pitchFamily="18" charset="-128"/>
              </a:rPr>
              <a:t>でお申し込み</a:t>
            </a:r>
            <a:r>
              <a:rPr lang="ja-JP" altLang="en-US" sz="1400" b="1" dirty="0" smtClean="0">
                <a:solidFill>
                  <a:srgbClr val="35250D"/>
                </a:solidFill>
                <a:effectLst/>
                <a:latin typeface="HGS教科書体" pitchFamily="18" charset="-128"/>
                <a:ea typeface="HGS教科書体" pitchFamily="18" charset="-128"/>
              </a:rPr>
              <a:t>ください。</a:t>
            </a:r>
            <a:endParaRPr lang="ja-JP" altLang="en-US" sz="1400" b="1" dirty="0">
              <a:solidFill>
                <a:srgbClr val="35250D"/>
              </a:solidFill>
              <a:effectLst/>
              <a:latin typeface="HGS教科書体" pitchFamily="18" charset="-128"/>
              <a:ea typeface="HGS教科書体" pitchFamily="18" charset="-128"/>
            </a:endParaRPr>
          </a:p>
          <a:p>
            <a:r>
              <a:rPr lang="ja-JP" altLang="en-US" sz="1200" dirty="0">
                <a:solidFill>
                  <a:srgbClr val="990000"/>
                </a:solidFill>
                <a:effectLst/>
                <a:latin typeface="HGS教科書体" pitchFamily="18" charset="-128"/>
                <a:ea typeface="HGS教科書体" pitchFamily="18" charset="-128"/>
              </a:rPr>
              <a:t>①</a:t>
            </a:r>
            <a:r>
              <a:rPr lang="en-US" altLang="ja-JP" sz="1200" dirty="0">
                <a:solidFill>
                  <a:srgbClr val="990000"/>
                </a:solidFill>
                <a:effectLst/>
                <a:latin typeface="HGS教科書体" pitchFamily="18" charset="-128"/>
                <a:ea typeface="HGS教科書体" pitchFamily="18" charset="-128"/>
              </a:rPr>
              <a:t>TEL 03-6233-7867</a:t>
            </a:r>
            <a:r>
              <a:rPr lang="ja-JP" altLang="en-US" sz="1200" dirty="0">
                <a:solidFill>
                  <a:srgbClr val="990000"/>
                </a:solidFill>
                <a:effectLst/>
                <a:latin typeface="HGS教科書体" pitchFamily="18" charset="-128"/>
                <a:ea typeface="HGS教科書体" pitchFamily="18" charset="-128"/>
              </a:rPr>
              <a:t>　②</a:t>
            </a:r>
            <a:r>
              <a:rPr lang="en-US" altLang="ja-JP" sz="1200" dirty="0">
                <a:solidFill>
                  <a:srgbClr val="990000"/>
                </a:solidFill>
                <a:effectLst/>
                <a:latin typeface="HGS教科書体" pitchFamily="18" charset="-128"/>
                <a:ea typeface="HGS教科書体" pitchFamily="18" charset="-128"/>
              </a:rPr>
              <a:t>FAX 03-6233-7862</a:t>
            </a:r>
          </a:p>
          <a:p>
            <a:r>
              <a:rPr lang="ja-JP" altLang="en-US" sz="1200" dirty="0" smtClean="0">
                <a:solidFill>
                  <a:srgbClr val="990000"/>
                </a:solidFill>
                <a:effectLst/>
                <a:latin typeface="HGS教科書体" pitchFamily="18" charset="-128"/>
                <a:ea typeface="HGS教科書体" pitchFamily="18" charset="-128"/>
              </a:rPr>
              <a:t>③</a:t>
            </a:r>
            <a:r>
              <a:rPr lang="en-US" altLang="ja-JP" sz="1200" dirty="0" smtClean="0">
                <a:solidFill>
                  <a:srgbClr val="990000"/>
                </a:solidFill>
                <a:latin typeface="HGS教科書体" pitchFamily="18" charset="-128"/>
                <a:ea typeface="HGS教科書体" pitchFamily="18" charset="-128"/>
              </a:rPr>
              <a:t>TEL03-3232-1139 </a:t>
            </a:r>
            <a:r>
              <a:rPr lang="ja-JP" altLang="en-US" sz="1200" dirty="0" smtClean="0">
                <a:solidFill>
                  <a:srgbClr val="990000"/>
                </a:solidFill>
                <a:latin typeface="HGS教科書体" pitchFamily="18" charset="-128"/>
                <a:ea typeface="HGS教科書体" pitchFamily="18" charset="-128"/>
              </a:rPr>
              <a:t>　</a:t>
            </a:r>
            <a:r>
              <a:rPr lang="ja-JP" altLang="en-US" sz="1200" dirty="0" smtClean="0">
                <a:solidFill>
                  <a:srgbClr val="990000"/>
                </a:solidFill>
                <a:effectLst/>
                <a:latin typeface="HGS教科書体" pitchFamily="18" charset="-128"/>
                <a:ea typeface="HGS教科書体" pitchFamily="18" charset="-128"/>
              </a:rPr>
              <a:t>④</a:t>
            </a:r>
            <a:r>
              <a:rPr lang="en-US" altLang="ja-JP" sz="1200" dirty="0" smtClean="0">
                <a:solidFill>
                  <a:srgbClr val="990000"/>
                </a:solidFill>
                <a:effectLst/>
                <a:latin typeface="HGS教科書体" pitchFamily="18" charset="-128"/>
                <a:ea typeface="HGS教科書体" pitchFamily="18" charset="-128"/>
              </a:rPr>
              <a:t>E</a:t>
            </a:r>
            <a:r>
              <a:rPr lang="ja-JP" altLang="en-US" sz="1200" dirty="0" smtClean="0">
                <a:solidFill>
                  <a:srgbClr val="990000"/>
                </a:solidFill>
                <a:effectLst/>
                <a:latin typeface="HGS教科書体" pitchFamily="18" charset="-128"/>
                <a:ea typeface="HGS教科書体" pitchFamily="18" charset="-128"/>
              </a:rPr>
              <a:t>メール</a:t>
            </a:r>
            <a:r>
              <a:rPr lang="en-US" altLang="ja-JP" sz="1200" dirty="0" smtClean="0">
                <a:solidFill>
                  <a:srgbClr val="990000"/>
                </a:solidFill>
                <a:effectLst/>
                <a:latin typeface="HGS教科書体" pitchFamily="18" charset="-128"/>
                <a:ea typeface="HGS教科書体" pitchFamily="18" charset="-128"/>
              </a:rPr>
              <a:t>cho@cho-sunok.com</a:t>
            </a:r>
            <a:endParaRPr lang="en-US" altLang="ja-JP" sz="1200" dirty="0">
              <a:solidFill>
                <a:srgbClr val="990000"/>
              </a:solidFill>
              <a:effectLst/>
              <a:latin typeface="HGS教科書体" pitchFamily="18" charset="-128"/>
              <a:ea typeface="HGS教科書体" pitchFamily="18" charset="-128"/>
            </a:endParaRPr>
          </a:p>
        </p:txBody>
      </p:sp>
      <p:sp>
        <p:nvSpPr>
          <p:cNvPr id="45" name="Text Box 6"/>
          <p:cNvSpPr txBox="1">
            <a:spLocks noChangeArrowheads="1"/>
          </p:cNvSpPr>
          <p:nvPr/>
        </p:nvSpPr>
        <p:spPr bwMode="auto">
          <a:xfrm>
            <a:off x="139452" y="7862193"/>
            <a:ext cx="5715000" cy="1030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ja-JP" altLang="en-US" sz="1400" b="1" dirty="0">
                <a:solidFill>
                  <a:srgbClr val="35250D"/>
                </a:solidFill>
                <a:effectLst/>
                <a:latin typeface="HGS教科書体" pitchFamily="18" charset="-128"/>
                <a:ea typeface="HGS教科書体" pitchFamily="18" charset="-128"/>
              </a:rPr>
              <a:t>＜講師紹介＞趙 善玉 料理研究院　院長　趙 善玉（チョ・ソンオク）</a:t>
            </a:r>
            <a:endParaRPr lang="en-US" altLang="ja-JP" sz="1400" b="1" dirty="0">
              <a:solidFill>
                <a:srgbClr val="35250D"/>
              </a:solidFill>
              <a:effectLst/>
              <a:latin typeface="HGS教科書体" pitchFamily="18" charset="-128"/>
              <a:ea typeface="HGS教科書体" pitchFamily="18" charset="-128"/>
            </a:endParaRPr>
          </a:p>
          <a:p>
            <a:pPr>
              <a:defRPr/>
            </a:pPr>
            <a:r>
              <a:rPr lang="ja-JP" altLang="en-US" sz="1200" dirty="0">
                <a:latin typeface="HGS教科書体" pitchFamily="18" charset="-128"/>
                <a:ea typeface="HGS教科書体" pitchFamily="18" charset="-128"/>
              </a:rPr>
              <a:t>「食の都」全州が位置する韓国全羅北道金堤（キムジェ）市出身の料理研究家。食材の味を生かし化学調味料を使わない料理をモットーとして、新宿に</a:t>
            </a:r>
            <a:r>
              <a:rPr lang="ja-JP" altLang="en-US" sz="1200" b="1" dirty="0">
                <a:latin typeface="HGS教科書体" pitchFamily="18" charset="-128"/>
                <a:ea typeface="HGS教科書体" pitchFamily="18" charset="-128"/>
              </a:rPr>
              <a:t>趙</a:t>
            </a:r>
            <a:r>
              <a:rPr lang="ja-JP" altLang="en-US" sz="1200" b="1" dirty="0" smtClean="0">
                <a:latin typeface="HGS教科書体" pitchFamily="18" charset="-128"/>
                <a:ea typeface="HGS教科書体" pitchFamily="18" charset="-128"/>
              </a:rPr>
              <a:t>善玉</a:t>
            </a:r>
            <a:endParaRPr lang="en-US" altLang="ja-JP" sz="1200" b="1" dirty="0" smtClean="0">
              <a:latin typeface="HGS教科書体" pitchFamily="18" charset="-128"/>
              <a:ea typeface="HGS教科書体" pitchFamily="18" charset="-128"/>
            </a:endParaRPr>
          </a:p>
          <a:p>
            <a:pPr>
              <a:defRPr/>
            </a:pPr>
            <a:r>
              <a:rPr lang="ja-JP" altLang="en-US" sz="1200" dirty="0" smtClean="0">
                <a:latin typeface="HGS教科書体" pitchFamily="18" charset="-128"/>
                <a:ea typeface="HGS教科書体" pitchFamily="18" charset="-128"/>
              </a:rPr>
              <a:t>料理</a:t>
            </a:r>
            <a:r>
              <a:rPr lang="ja-JP" altLang="en-US" sz="1200" dirty="0">
                <a:latin typeface="HGS教科書体" pitchFamily="18" charset="-128"/>
                <a:ea typeface="HGS教科書体" pitchFamily="18" charset="-128"/>
              </a:rPr>
              <a:t>研究院を開院して韓国の食を日本に広げている。</a:t>
            </a:r>
            <a:endParaRPr lang="en-US" altLang="ja-JP" sz="1200" dirty="0">
              <a:latin typeface="HGS教科書体" pitchFamily="18" charset="-128"/>
              <a:ea typeface="HGS教科書体" pitchFamily="18" charset="-128"/>
            </a:endParaRPr>
          </a:p>
          <a:p>
            <a:pPr>
              <a:defRPr/>
            </a:pPr>
            <a:endParaRPr lang="ja-JP" altLang="en-US" sz="1100" dirty="0">
              <a:solidFill>
                <a:srgbClr val="35250D"/>
              </a:solidFill>
              <a:effectLst/>
              <a:latin typeface="HGS教科書体" pitchFamily="18" charset="-128"/>
              <a:ea typeface="HGS教科書体" pitchFamily="18" charset="-128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419635" y="1455603"/>
            <a:ext cx="4097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dirty="0">
                <a:latin typeface="HGP教科書体" pitchFamily="18" charset="-128"/>
                <a:ea typeface="HGP教科書体" pitchFamily="18" charset="-128"/>
              </a:rPr>
              <a:t>第１弾　　</a:t>
            </a:r>
            <a:r>
              <a:rPr lang="ja-JP" altLang="en-US" b="1" dirty="0" smtClean="0">
                <a:latin typeface="HGP教科書体" pitchFamily="18" charset="-128"/>
                <a:ea typeface="HGP教科書体" pitchFamily="18" charset="-128"/>
              </a:rPr>
              <a:t>自家製キムジャンキムチ作り体験</a:t>
            </a:r>
            <a:endParaRPr lang="en-US" altLang="ja-JP" b="1" dirty="0">
              <a:latin typeface="HGP教科書体" pitchFamily="18" charset="-128"/>
              <a:ea typeface="HGP教科書体" pitchFamily="18" charset="-128"/>
            </a:endParaRPr>
          </a:p>
          <a:p>
            <a:endParaRPr kumimoji="1" lang="ja-JP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9120" y="2030357"/>
            <a:ext cx="2034085" cy="16185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239" y="2011587"/>
            <a:ext cx="1954097" cy="1590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8880" y="2008455"/>
            <a:ext cx="2160240" cy="163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8661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113</Words>
  <Application>Microsoft Office PowerPoint</Application>
  <PresentationFormat>画面に合わせる (4:3)</PresentationFormat>
  <Paragraphs>27</Paragraphs>
  <Slides>1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2" baseType="lpstr">
      <vt:lpstr>Office ​​テーマ</vt:lpstr>
      <vt:lpstr>PowerPoint プレゼンテーション</vt:lpstr>
    </vt:vector>
  </TitlesOfParts>
  <Company>MyCom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CSC</dc:creator>
  <cp:lastModifiedBy>CSC</cp:lastModifiedBy>
  <cp:revision>13</cp:revision>
  <cp:lastPrinted>2013-10-07T04:44:53Z</cp:lastPrinted>
  <dcterms:created xsi:type="dcterms:W3CDTF">2013-09-05T06:32:05Z</dcterms:created>
  <dcterms:modified xsi:type="dcterms:W3CDTF">2013-10-07T05:02:47Z</dcterms:modified>
</cp:coreProperties>
</file>